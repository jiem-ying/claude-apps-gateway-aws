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C785C"/>
                </a:solidFill>
                <a:latin typeface="Arial"/>
              </a:rPr>
              <a:t>GOVERNING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144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41413"/>
                </a:solidFill>
                <a:latin typeface="Georgia"/>
              </a:rPr>
              <a:t>One credential, in your account, under your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D3D3A"/>
                </a:solidFill>
                <a:latin typeface="Arial"/>
              </a:rPr>
              <a:t>The Claude Apps Gateway is a self-hosted control plane on AWS. Developers sign in with corporate SSO; the gateway routes every request to Amazon Bedrock on one IAM role it holds — so there are no AWS keys on any laptop, and offboarding is just removing someone from your IdP.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37069"/>
                </a:solidFill>
                <a:latin typeface="Arial"/>
              </a:rPr>
              <a:t>THE PATH EVERY REQUEST TAKES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999232"/>
            <a:ext cx="1883664" cy="1371600"/>
          </a:xfrm>
          <a:prstGeom prst="roundRect">
            <a:avLst>
              <a:gd name="adj" fmla="val 6000"/>
            </a:avLst>
          </a:prstGeom>
          <a:solidFill>
            <a:srgbClr val="F0EEE6"/>
          </a:solidFill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50" b="1" i="0">
                <a:solidFill>
                  <a:srgbClr val="141413"/>
                </a:solidFill>
                <a:latin typeface="Georgia"/>
              </a:rPr>
              <a:t>Developer
Claude Code</a:t>
            </a:r>
          </a:p>
          <a:p>
            <a:pPr algn="ctr">
              <a:spcBef>
                <a:spcPts val="300"/>
              </a:spcBef>
            </a:pPr>
            <a:r>
              <a:rPr sz="900" b="0" i="0">
                <a:solidFill>
                  <a:srgbClr val="737069"/>
                </a:solidFill>
                <a:latin typeface="Arial"/>
              </a:rPr>
              <a:t>Corporate SSO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3665982"/>
            <a:ext cx="182880" cy="38100"/>
          </a:xfrm>
          <a:prstGeom prst="rect">
            <a:avLst/>
          </a:prstGeom>
          <a:solidFill>
            <a:srgbClr val="A85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2953512" y="3607308"/>
            <a:ext cx="155448" cy="155448"/>
          </a:xfrm>
          <a:prstGeom prst="triangle">
            <a:avLst/>
          </a:prstGeom>
          <a:solidFill>
            <a:srgbClr val="A85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136392" y="2999232"/>
            <a:ext cx="1883664" cy="1371600"/>
          </a:xfrm>
          <a:prstGeom prst="roundRect">
            <a:avLst>
              <a:gd name="adj" fmla="val 6000"/>
            </a:avLst>
          </a:prstGeom>
          <a:solidFill>
            <a:srgbClr val="F0EEE6"/>
          </a:solidFill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50" b="1" i="0">
                <a:solidFill>
                  <a:srgbClr val="141413"/>
                </a:solidFill>
                <a:latin typeface="Georgia"/>
              </a:rPr>
              <a:t>OIDC IdP</a:t>
            </a:r>
          </a:p>
          <a:p>
            <a:pPr algn="ctr">
              <a:spcBef>
                <a:spcPts val="300"/>
              </a:spcBef>
            </a:pPr>
            <a:r>
              <a:rPr sz="900" b="0" i="0">
                <a:solidFill>
                  <a:srgbClr val="737069"/>
                </a:solidFill>
                <a:latin typeface="Arial"/>
              </a:rPr>
              <a:t>Cognito or BYO
(Okta · Entra)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56632" y="3665982"/>
            <a:ext cx="182880" cy="38100"/>
          </a:xfrm>
          <a:prstGeom prst="rect">
            <a:avLst/>
          </a:prstGeom>
          <a:solidFill>
            <a:srgbClr val="A85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5221224" y="3607308"/>
            <a:ext cx="155448" cy="155448"/>
          </a:xfrm>
          <a:prstGeom prst="triangle">
            <a:avLst/>
          </a:prstGeom>
          <a:solidFill>
            <a:srgbClr val="A85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04104" y="2999232"/>
            <a:ext cx="1883664" cy="1371600"/>
          </a:xfrm>
          <a:prstGeom prst="roundRect">
            <a:avLst>
              <a:gd name="adj" fmla="val 6000"/>
            </a:avLst>
          </a:prstGeom>
          <a:solidFill>
            <a:srgbClr val="F0EEE6"/>
          </a:solidFill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50" b="1" i="0">
                <a:solidFill>
                  <a:srgbClr val="141413"/>
                </a:solidFill>
                <a:latin typeface="Georgia"/>
              </a:rPr>
              <a:t>Internal ALB</a:t>
            </a:r>
          </a:p>
          <a:p>
            <a:pPr algn="ctr">
              <a:spcBef>
                <a:spcPts val="300"/>
              </a:spcBef>
            </a:pPr>
            <a:r>
              <a:rPr sz="900" b="0" i="0">
                <a:solidFill>
                  <a:srgbClr val="737069"/>
                </a:solidFill>
                <a:latin typeface="Arial"/>
              </a:rPr>
              <a:t>Private · IPv4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24344" y="3665982"/>
            <a:ext cx="182880" cy="38100"/>
          </a:xfrm>
          <a:prstGeom prst="rect">
            <a:avLst/>
          </a:prstGeom>
          <a:solidFill>
            <a:srgbClr val="A85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7488936" y="3607308"/>
            <a:ext cx="155448" cy="155448"/>
          </a:xfrm>
          <a:prstGeom prst="triangle">
            <a:avLst/>
          </a:prstGeom>
          <a:solidFill>
            <a:srgbClr val="A85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71816" y="2999232"/>
            <a:ext cx="1883664" cy="1371600"/>
          </a:xfrm>
          <a:prstGeom prst="roundRect">
            <a:avLst>
              <a:gd name="adj" fmla="val 6000"/>
            </a:avLst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50" b="1" i="0">
                <a:solidFill>
                  <a:srgbClr val="F0EEE6"/>
                </a:solidFill>
                <a:latin typeface="Georgia"/>
              </a:rPr>
              <a:t>Gateway
ECS Fargate</a:t>
            </a:r>
          </a:p>
          <a:p>
            <a:pPr algn="ctr">
              <a:spcBef>
                <a:spcPts val="300"/>
              </a:spcBef>
            </a:pPr>
            <a:r>
              <a:rPr sz="900" b="0" i="0">
                <a:solidFill>
                  <a:srgbClr val="F0EEE6"/>
                </a:solidFill>
                <a:latin typeface="Arial"/>
              </a:rPr>
              <a:t>Enforces policy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92056" y="3665982"/>
            <a:ext cx="182880" cy="38100"/>
          </a:xfrm>
          <a:prstGeom prst="rect">
            <a:avLst/>
          </a:prstGeom>
          <a:solidFill>
            <a:srgbClr val="A85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9756648" y="3607308"/>
            <a:ext cx="155448" cy="155448"/>
          </a:xfrm>
          <a:prstGeom prst="triangle">
            <a:avLst/>
          </a:prstGeom>
          <a:solidFill>
            <a:srgbClr val="A85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939528" y="2999232"/>
            <a:ext cx="1883664" cy="1371600"/>
          </a:xfrm>
          <a:prstGeom prst="roundRect">
            <a:avLst>
              <a:gd name="adj" fmla="val 6000"/>
            </a:avLst>
          </a:prstGeom>
          <a:solidFill>
            <a:srgbClr val="F0EEE6"/>
          </a:solidFill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50" b="1" i="0">
                <a:solidFill>
                  <a:srgbClr val="141413"/>
                </a:solidFill>
                <a:latin typeface="Georgia"/>
              </a:rPr>
              <a:t>Amazon
Bedrock</a:t>
            </a:r>
          </a:p>
          <a:p>
            <a:pPr algn="ctr">
              <a:spcBef>
                <a:spcPts val="300"/>
              </a:spcBef>
            </a:pPr>
            <a:r>
              <a:rPr sz="900" b="0" i="0">
                <a:solidFill>
                  <a:srgbClr val="737069"/>
                </a:solidFill>
                <a:latin typeface="Arial"/>
              </a:rPr>
              <a:t>Claude, your region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61772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1413"/>
                </a:solidFill>
                <a:latin typeface="Arial"/>
              </a:rPr>
              <a:t>Everything beneath the token stays inside your VPC — 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250" b="0" i="0">
                <a:solidFill>
                  <a:srgbClr val="3D3D3A"/>
                </a:solidFill>
                <a:latin typeface="Arial"/>
              </a:rPr>
              <a:t>RDS PostgreSQL holds auth &amp; spend state, an optional collector forwards metrics over native OTLP to CloudWatch, all in one account. Unless you deliberately add it, traffic never leaves your environment.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406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37069"/>
                </a:solidFill>
                <a:latin typeface="Arial"/>
              </a:rPr>
              <a:t>WHY GOVERN — ONE SHARED CREDENTIAL CONCENTRATES THREE RISKS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742432"/>
            <a:ext cx="3392424" cy="566928"/>
          </a:xfrm>
          <a:prstGeom prst="roundRect">
            <a:avLst>
              <a:gd name="adj" fmla="val 6000"/>
            </a:avLst>
          </a:prstGeom>
          <a:solidFill>
            <a:srgbClr val="FAF9F5"/>
          </a:solidFill>
          <a:ln w="12700">
            <a:solidFill>
              <a:srgbClr val="D9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5742432"/>
            <a:ext cx="82296" cy="566928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8136" y="5742432"/>
            <a:ext cx="302666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41413"/>
                </a:solidFill>
                <a:latin typeface="Georgia"/>
              </a:rPr>
              <a:t>Runaway spend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3D3A"/>
                </a:solidFill>
                <a:latin typeface="Arial"/>
              </a:rPr>
              <a:t>one looping agent can burn the whole commitment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43984" y="5742432"/>
            <a:ext cx="3392424" cy="566928"/>
          </a:xfrm>
          <a:prstGeom prst="roundRect">
            <a:avLst>
              <a:gd name="adj" fmla="val 6000"/>
            </a:avLst>
          </a:prstGeom>
          <a:solidFill>
            <a:srgbClr val="FAF9F5"/>
          </a:solidFill>
          <a:ln w="12700">
            <a:solidFill>
              <a:srgbClr val="D9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43984" y="5742432"/>
            <a:ext cx="82296" cy="566928"/>
          </a:xfrm>
          <a:prstGeom prst="rect">
            <a:avLst/>
          </a:prstGeom>
          <a:solidFill>
            <a:srgbClr val="62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5742432"/>
            <a:ext cx="302666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41413"/>
                </a:solidFill>
                <a:latin typeface="Georgia"/>
              </a:rPr>
              <a:t>Access sprawl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3D3A"/>
                </a:solidFill>
                <a:latin typeface="Arial"/>
              </a:rPr>
              <a:t>every dev can reach every model and every tool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9288" y="5742432"/>
            <a:ext cx="3392424" cy="566928"/>
          </a:xfrm>
          <a:prstGeom prst="roundRect">
            <a:avLst>
              <a:gd name="adj" fmla="val 6000"/>
            </a:avLst>
          </a:prstGeom>
          <a:solidFill>
            <a:srgbClr val="FAF9F5"/>
          </a:solidFill>
          <a:ln w="12700">
            <a:solidFill>
              <a:srgbClr val="D9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9288" y="5742432"/>
            <a:ext cx="82296" cy="566928"/>
          </a:xfrm>
          <a:prstGeom prst="rect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8744" y="5742432"/>
            <a:ext cx="302666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41413"/>
                </a:solidFill>
                <a:latin typeface="Georgia"/>
              </a:rPr>
              <a:t>No attribution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3D3A"/>
                </a:solidFill>
                <a:latin typeface="Arial"/>
              </a:rPr>
              <a:t>the invoice arrives as one anonymous lump sum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6419088"/>
            <a:ext cx="10543032" cy="12700"/>
          </a:xfrm>
          <a:prstGeom prst="rect">
            <a:avLst/>
          </a:prstGeom>
          <a:solidFill>
            <a:srgbClr val="D9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37069"/>
                </a:solidFill>
                <a:latin typeface="Arial"/>
              </a:rPr>
              <a:t>Claude Apps Gateway  ·  Governance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37069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C785C"/>
                </a:solidFill>
                <a:latin typeface="Arial"/>
              </a:rPr>
              <a:t>WHAT YOU CAN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141413"/>
                </a:solidFill>
                <a:latin typeface="Georgia"/>
              </a:rPr>
              <a:t>Configure it, cap it, and see who did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3D3A"/>
                </a:solidFill>
                <a:latin typeface="Arial"/>
              </a:rPr>
              <a:t>Three governance controls, all enforced server-side at the API — not merely hidden in the client.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92424" cy="3611880"/>
          </a:xfrm>
          <a:prstGeom prst="roundRect">
            <a:avLst>
              <a:gd name="adj" fmla="val 6000"/>
            </a:avLst>
          </a:prstGeom>
          <a:solidFill>
            <a:srgbClr val="FAF9F5"/>
          </a:solidFill>
          <a:ln w="12700">
            <a:solidFill>
              <a:srgbClr val="D9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3392424" cy="12801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615184"/>
            <a:ext cx="288036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CC785C"/>
                </a:solidFill>
                <a:latin typeface="Georgia"/>
              </a:rPr>
              <a:t>01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41413"/>
                </a:solidFill>
                <a:latin typeface="Georgia"/>
              </a:rPr>
              <a:t>Quota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50" b="1" i="0">
                <a:solidFill>
                  <a:srgbClr val="CC785C"/>
                </a:solidFill>
                <a:latin typeface="Arial"/>
              </a:rPr>
              <a:t>Real-time spend caps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1" i="0">
                <a:solidFill>
                  <a:srgbClr val="CC785C"/>
                </a:solidFill>
                <a:latin typeface="Arial"/>
              </a:rPr>
              <a:t>—  </a:t>
            </a:r>
            <a:r>
              <a:rPr sz="1150" b="0" i="0">
                <a:solidFill>
                  <a:srgbClr val="3D3D3A"/>
                </a:solidFill>
                <a:latin typeface="Arial"/>
              </a:rPr>
              <a:t>Per-user, per-group, or org daily / weekly / monthly USD budgets, checked live on every request.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1" i="0">
                <a:solidFill>
                  <a:srgbClr val="CC785C"/>
                </a:solidFill>
                <a:latin typeface="Arial"/>
              </a:rPr>
              <a:t>—  </a:t>
            </a:r>
            <a:r>
              <a:rPr sz="1150" b="0" i="0">
                <a:solidFill>
                  <a:srgbClr val="3D3D3A"/>
                </a:solidFill>
                <a:latin typeface="Arial"/>
              </a:rPr>
              <a:t>DEMO: over-cap request returns </a:t>
            </a:r>
            <a:r>
              <a:rPr sz="1100" b="1" i="0">
                <a:solidFill>
                  <a:srgbClr val="141413"/>
                </a:solidFill>
                <a:latin typeface="Courier New"/>
              </a:rPr>
              <a:t>429 billing_error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1" i="0">
                <a:solidFill>
                  <a:srgbClr val="CC785C"/>
                </a:solidFill>
                <a:latin typeface="Arial"/>
              </a:rPr>
              <a:t>—  </a:t>
            </a:r>
            <a:r>
              <a:rPr sz="1150" b="0" i="0">
                <a:solidFill>
                  <a:srgbClr val="3D3D3A"/>
                </a:solidFill>
                <a:latin typeface="Arial"/>
              </a:rPr>
              <a:t>Admin raises it via the spend_limits API — next request succeeds. No redeploy.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1" i="0">
                <a:solidFill>
                  <a:srgbClr val="CC785C"/>
                </a:solidFill>
                <a:latin typeface="Arial"/>
              </a:rPr>
              <a:t>—  </a:t>
            </a:r>
            <a:r>
              <a:rPr sz="1150" b="0" i="0">
                <a:solidFill>
                  <a:srgbClr val="3D3D3A"/>
                </a:solidFill>
                <a:latin typeface="Arial"/>
              </a:rPr>
              <a:t>Estimated at list price: a circuit breaker, not an invoice.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2286000"/>
            <a:ext cx="3392424" cy="3611880"/>
          </a:xfrm>
          <a:prstGeom prst="roundRect">
            <a:avLst>
              <a:gd name="adj" fmla="val 6000"/>
            </a:avLst>
          </a:prstGeom>
          <a:solidFill>
            <a:srgbClr val="FAF9F5"/>
          </a:solidFill>
          <a:ln w="12700">
            <a:solidFill>
              <a:srgbClr val="D9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8264" y="2286000"/>
            <a:ext cx="3392424" cy="128016"/>
          </a:xfrm>
          <a:prstGeom prst="rect">
            <a:avLst/>
          </a:prstGeom>
          <a:solidFill>
            <a:srgbClr val="628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2615184"/>
            <a:ext cx="288036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628C9E"/>
                </a:solidFill>
                <a:latin typeface="Georgia"/>
              </a:rPr>
              <a:t>02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41413"/>
                </a:solidFill>
                <a:latin typeface="Georgia"/>
              </a:rPr>
              <a:t>Access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50" b="1" i="0">
                <a:solidFill>
                  <a:srgbClr val="628C9E"/>
                </a:solidFill>
                <a:latin typeface="Arial"/>
              </a:rPr>
              <a:t>OIDC-group RBAC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1" i="0">
                <a:solidFill>
                  <a:srgbClr val="628C9E"/>
                </a:solidFill>
                <a:latin typeface="Arial"/>
              </a:rPr>
              <a:t>—  </a:t>
            </a:r>
            <a:r>
              <a:rPr sz="1150" b="0" i="0">
                <a:solidFill>
                  <a:srgbClr val="3D3D3A"/>
                </a:solidFill>
                <a:latin typeface="Arial"/>
              </a:rPr>
              <a:t>An identity group (Cognito, Okta, Entra) maps to its allowed models and tools.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1" i="0">
                <a:solidFill>
                  <a:srgbClr val="628C9E"/>
                </a:solidFill>
                <a:latin typeface="Arial"/>
              </a:rPr>
              <a:t>—  </a:t>
            </a:r>
            <a:r>
              <a:rPr sz="1150" b="0" i="0">
                <a:solidFill>
                  <a:srgbClr val="3D3D3A"/>
                </a:solidFill>
                <a:latin typeface="Arial"/>
              </a:rPr>
              <a:t/>
            </a:r>
            <a:r>
              <a:rPr sz="1100" b="1" i="0">
                <a:solidFill>
                  <a:srgbClr val="141413"/>
                </a:solidFill>
                <a:latin typeface="Courier New"/>
              </a:rPr>
              <a:t>ENFORCE_MODELS</a:t>
            </a:r>
            <a:r>
              <a:rPr sz="1150" b="0" i="0">
                <a:solidFill>
                  <a:srgbClr val="3D3D3A"/>
                </a:solidFill>
                <a:latin typeface="Arial"/>
              </a:rPr>
              <a:t> org allowlist → off-list model rejected with 400.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1" i="0">
                <a:solidFill>
                  <a:srgbClr val="628C9E"/>
                </a:solidFill>
                <a:latin typeface="Arial"/>
              </a:rPr>
              <a:t>—  </a:t>
            </a:r>
            <a:r>
              <a:rPr sz="1150" b="0" i="0">
                <a:solidFill>
                  <a:srgbClr val="3D3D3A"/>
                </a:solidFill>
                <a:latin typeface="Arial"/>
              </a:rPr>
              <a:t/>
            </a:r>
            <a:r>
              <a:rPr sz="1100" b="1" i="0">
                <a:solidFill>
                  <a:srgbClr val="141413"/>
                </a:solidFill>
                <a:latin typeface="Courier New"/>
              </a:rPr>
              <a:t>DENY_TOOL_GROUP</a:t>
            </a:r>
            <a:r>
              <a:rPr sz="1150" b="0" i="0">
                <a:solidFill>
                  <a:srgbClr val="3D3D3A"/>
                </a:solidFill>
                <a:latin typeface="Arial"/>
              </a:rPr>
              <a:t> for a group withholds a built-in like WebFetch.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1" i="0">
                <a:solidFill>
                  <a:srgbClr val="628C9E"/>
                </a:solidFill>
                <a:latin typeface="Arial"/>
              </a:rPr>
              <a:t>—  </a:t>
            </a:r>
            <a:r>
              <a:rPr sz="1150" b="0" i="0">
                <a:solidFill>
                  <a:srgbClr val="3D3D3A"/>
                </a:solidFill>
                <a:latin typeface="Arial"/>
              </a:rPr>
              <a:t>Gateway gates access; it does not push MCP servers.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2286000"/>
            <a:ext cx="3392424" cy="3611880"/>
          </a:xfrm>
          <a:prstGeom prst="roundRect">
            <a:avLst>
              <a:gd name="adj" fmla="val 6000"/>
            </a:avLst>
          </a:prstGeom>
          <a:solidFill>
            <a:srgbClr val="FAF9F5"/>
          </a:solidFill>
          <a:ln w="12700">
            <a:solidFill>
              <a:srgbClr val="D9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73568" y="2286000"/>
            <a:ext cx="3392424" cy="128016"/>
          </a:xfrm>
          <a:prstGeom prst="rect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615184"/>
            <a:ext cx="288036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8A9A5B"/>
                </a:solidFill>
                <a:latin typeface="Georgia"/>
              </a:rPr>
              <a:t>03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41413"/>
                </a:solidFill>
                <a:latin typeface="Georgia"/>
              </a:rPr>
              <a:t>Visibility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50" b="1" i="0">
                <a:solidFill>
                  <a:srgbClr val="8A9A5B"/>
                </a:solidFill>
                <a:latin typeface="Arial"/>
              </a:rPr>
              <a:t>Attribution &amp; alerts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1" i="0">
                <a:solidFill>
                  <a:srgbClr val="8A9A5B"/>
                </a:solidFill>
                <a:latin typeface="Arial"/>
              </a:rPr>
              <a:t>—  </a:t>
            </a:r>
            <a:r>
              <a:rPr sz="1150" b="0" i="0">
                <a:solidFill>
                  <a:srgbClr val="3D3D3A"/>
                </a:solidFill>
                <a:latin typeface="Arial"/>
              </a:rPr>
              <a:t>Every metric and audit event carries the developer's identity.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1" i="0">
                <a:solidFill>
                  <a:srgbClr val="8A9A5B"/>
                </a:solidFill>
                <a:latin typeface="Arial"/>
              </a:rPr>
              <a:t>—  </a:t>
            </a:r>
            <a:r>
              <a:rPr sz="1150" b="0" i="0">
                <a:solidFill>
                  <a:srgbClr val="3D3D3A"/>
                </a:solidFill>
                <a:latin typeface="Arial"/>
              </a:rPr>
              <a:t>Managed Coding Agent Insights dashboard: cost by user, team, model.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1" i="0">
                <a:solidFill>
                  <a:srgbClr val="8A9A5B"/>
                </a:solidFill>
                <a:latin typeface="Arial"/>
              </a:rPr>
              <a:t>—  </a:t>
            </a:r>
            <a:r>
              <a:rPr sz="1150" b="0" i="0">
                <a:solidFill>
                  <a:srgbClr val="3D3D3A"/>
                </a:solidFill>
                <a:latin typeface="Arial"/>
              </a:rPr>
              <a:t>Governance forensics via Logs Insights over /aws/claude-gateway/events.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1" i="0">
                <a:solidFill>
                  <a:srgbClr val="8A9A5B"/>
                </a:solidFill>
                <a:latin typeface="Arial"/>
              </a:rPr>
              <a:t>—  </a:t>
            </a:r>
            <a:r>
              <a:rPr sz="1150" b="0" i="0">
                <a:solidFill>
                  <a:srgbClr val="3D3D3A"/>
                </a:solidFill>
                <a:latin typeface="Arial"/>
              </a:rPr>
              <a:t>PromQL alarms on daily cost and per-user cost.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0533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141413"/>
                </a:solidFill>
                <a:latin typeface="Georgia"/>
              </a:rPr>
              <a:t>One self-hosted gateway on AWS — running on your credential, under your policy, in full 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419088"/>
            <a:ext cx="10543032" cy="12700"/>
          </a:xfrm>
          <a:prstGeom prst="rect">
            <a:avLst/>
          </a:prstGeom>
          <a:solidFill>
            <a:srgbClr val="D9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37069"/>
                </a:solidFill>
                <a:latin typeface="Arial"/>
              </a:rPr>
              <a:t>Claude Apps Gateway  · 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37069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