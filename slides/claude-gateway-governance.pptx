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148840"/>
            <a:ext cx="10515600" cy="2194560"/>
          </a:xfrm>
          <a:prstGeom prst="rect">
            <a:avLst/>
          </a:prstGeom>
          <a:noFill/>
        </p:spPr>
        <p:txBody>
          <a:bodyPr wrap="square" anchor="t" lIns="0" rIns="0" tIns="0" bIns="0">
            <a:spAutoFit/>
          </a:bodyPr>
          <a:lstStyle/>
          <a:p>
            <a:pPr algn="l">
              <a:spcBef>
                <a:spcPts val="0"/>
              </a:spcBef>
              <a:spcAft>
                <a:spcPts val="1000"/>
              </a:spcAft>
            </a:pPr>
            <a:r>
              <a:rPr sz="1500" b="1" i="0">
                <a:solidFill>
                  <a:srgbClr val="CC785C"/>
                </a:solidFill>
                <a:latin typeface="Arial"/>
              </a:rPr>
              <a:t>GOVERNING CLAUDE CODE</a:t>
            </a:r>
          </a:p>
          <a:p>
            <a:pPr algn="l">
              <a:lnSpc>
                <a:spcPct val="100000"/>
              </a:lnSpc>
              <a:spcBef>
                <a:spcPts val="0"/>
              </a:spcBef>
              <a:spcAft>
                <a:spcPts val="600"/>
              </a:spcAft>
            </a:pPr>
            <a:r>
              <a:rPr sz="4600" b="0" i="0">
                <a:solidFill>
                  <a:srgbClr val="141413"/>
                </a:solidFill>
                <a:latin typeface="Georgia"/>
              </a:rPr>
              <a:t>Governance at enterprise scale</a:t>
            </a:r>
          </a:p>
          <a:p>
            <a:pPr algn="l">
              <a:spcBef>
                <a:spcPts val="400"/>
              </a:spcBef>
              <a:spcAft>
                <a:spcPts val="600"/>
              </a:spcAft>
            </a:pPr>
            <a:r>
              <a:rPr sz="2000" b="0" i="1">
                <a:solidFill>
                  <a:srgbClr val="3D3D3A"/>
                </a:solidFill>
                <a:latin typeface="Georgia"/>
              </a:rPr>
              <a:t>Quota control · Access control · Full visibility</a:t>
            </a:r>
          </a:p>
        </p:txBody>
      </p:sp>
      <p:sp>
        <p:nvSpPr>
          <p:cNvPr id="5" name="TextBox 4"/>
          <p:cNvSpPr txBox="1"/>
          <p:nvPr/>
        </p:nvSpPr>
        <p:spPr>
          <a:xfrm>
            <a:off x="868680" y="5669280"/>
            <a:ext cx="10332720" cy="64008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737069"/>
                </a:solidFill>
                <a:latin typeface="Arial"/>
              </a:rPr>
              <a:t>A self-hosted gateway on AWS that routes Claude Code through Amazon Bedrock, using your own identity provider, network, and telemetry.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WHY GOVERNANCE</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One shared credential. Hundreds of agents.</a:t>
            </a:r>
          </a:p>
        </p:txBody>
      </p:sp>
      <p:sp>
        <p:nvSpPr>
          <p:cNvPr id="5" name="TextBox 4"/>
          <p:cNvSpPr txBox="1"/>
          <p:nvPr/>
        </p:nvSpPr>
        <p:spPr>
          <a:xfrm>
            <a:off x="822960" y="1691640"/>
            <a:ext cx="10515600" cy="640080"/>
          </a:xfrm>
          <a:prstGeom prst="rect">
            <a:avLst/>
          </a:prstGeom>
          <a:noFill/>
        </p:spPr>
        <p:txBody>
          <a:bodyPr wrap="square" anchor="t" lIns="0" rIns="0" tIns="0" bIns="0">
            <a:spAutoFit/>
          </a:bodyPr>
          <a:lstStyle/>
          <a:p>
            <a:pPr algn="l">
              <a:lnSpc>
                <a:spcPct val="110000"/>
              </a:lnSpc>
              <a:spcBef>
                <a:spcPts val="0"/>
              </a:spcBef>
              <a:spcAft>
                <a:spcPts val="0"/>
              </a:spcAft>
            </a:pPr>
            <a:r>
              <a:rPr sz="1500" b="0" i="0">
                <a:solidFill>
                  <a:srgbClr val="3D3D3A"/>
                </a:solidFill>
                <a:latin typeface="Arial"/>
              </a:rPr>
              <a:t>The gateway routes every developer's inference through one upstream credential. That's the point — no API keys on laptops — but it concentrates three risks:</a:t>
            </a:r>
          </a:p>
        </p:txBody>
      </p:sp>
      <p:sp>
        <p:nvSpPr>
          <p:cNvPr id="6" name="Rounded Rectangle 5"/>
          <p:cNvSpPr/>
          <p:nvPr/>
        </p:nvSpPr>
        <p:spPr>
          <a:xfrm>
            <a:off x="822960" y="2697480"/>
            <a:ext cx="3392424" cy="301752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22960" y="2697480"/>
            <a:ext cx="3392424" cy="128016"/>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8992" y="3081528"/>
            <a:ext cx="2880360" cy="2377440"/>
          </a:xfrm>
          <a:prstGeom prst="rect">
            <a:avLst/>
          </a:prstGeom>
          <a:noFill/>
        </p:spPr>
        <p:txBody>
          <a:bodyPr wrap="square" anchor="t" lIns="0" rIns="0" tIns="0" bIns="0">
            <a:spAutoFit/>
          </a:bodyPr>
          <a:lstStyle/>
          <a:p>
            <a:pPr algn="l">
              <a:spcBef>
                <a:spcPts val="0"/>
              </a:spcBef>
              <a:spcAft>
                <a:spcPts val="1000"/>
              </a:spcAft>
            </a:pPr>
            <a:r>
              <a:rPr sz="1900" b="1" i="0">
                <a:solidFill>
                  <a:srgbClr val="141413"/>
                </a:solidFill>
                <a:latin typeface="Georgia"/>
              </a:rPr>
              <a:t>Runaway spend</a:t>
            </a:r>
          </a:p>
          <a:p>
            <a:pPr algn="l">
              <a:lnSpc>
                <a:spcPct val="114000"/>
              </a:lnSpc>
              <a:spcBef>
                <a:spcPts val="0"/>
              </a:spcBef>
              <a:spcAft>
                <a:spcPts val="0"/>
              </a:spcAft>
            </a:pPr>
            <a:r>
              <a:rPr sz="1350" b="0" i="0">
                <a:solidFill>
                  <a:srgbClr val="3D3D3A"/>
                </a:solidFill>
                <a:latin typeface="Arial"/>
              </a:rPr>
              <a:t>Because every request bills to the same credential, a single looping agent can quietly consume the organization's entire commitment before anyone notices.</a:t>
            </a:r>
          </a:p>
        </p:txBody>
      </p:sp>
      <p:sp>
        <p:nvSpPr>
          <p:cNvPr id="9" name="Rounded Rectangle 8"/>
          <p:cNvSpPr/>
          <p:nvPr/>
        </p:nvSpPr>
        <p:spPr>
          <a:xfrm>
            <a:off x="4398264" y="2697480"/>
            <a:ext cx="3392424" cy="301752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98264" y="2697480"/>
            <a:ext cx="3392424" cy="128016"/>
          </a:xfrm>
          <a:prstGeom prst="rect">
            <a:avLst/>
          </a:prstGeom>
          <a:solidFill>
            <a:srgbClr val="628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4296" y="3081528"/>
            <a:ext cx="2880360" cy="2377440"/>
          </a:xfrm>
          <a:prstGeom prst="rect">
            <a:avLst/>
          </a:prstGeom>
          <a:noFill/>
        </p:spPr>
        <p:txBody>
          <a:bodyPr wrap="square" anchor="t" lIns="0" rIns="0" tIns="0" bIns="0">
            <a:spAutoFit/>
          </a:bodyPr>
          <a:lstStyle/>
          <a:p>
            <a:pPr algn="l">
              <a:spcBef>
                <a:spcPts val="0"/>
              </a:spcBef>
              <a:spcAft>
                <a:spcPts val="1000"/>
              </a:spcAft>
            </a:pPr>
            <a:r>
              <a:rPr sz="1900" b="1" i="0">
                <a:solidFill>
                  <a:srgbClr val="141413"/>
                </a:solidFill>
                <a:latin typeface="Georgia"/>
              </a:rPr>
              <a:t>Access sprawl</a:t>
            </a:r>
          </a:p>
          <a:p>
            <a:pPr algn="l">
              <a:lnSpc>
                <a:spcPct val="114000"/>
              </a:lnSpc>
              <a:spcBef>
                <a:spcPts val="0"/>
              </a:spcBef>
              <a:spcAft>
                <a:spcPts val="0"/>
              </a:spcAft>
            </a:pPr>
            <a:r>
              <a:rPr sz="1350" b="0" i="0">
                <a:solidFill>
                  <a:srgbClr val="3D3D3A"/>
                </a:solidFill>
                <a:latin typeface="Arial"/>
              </a:rPr>
              <a:t>Without policy, every developer can reach every model and every tool, so a contractor and a senior engineer look exactly the same to the upstream.</a:t>
            </a:r>
          </a:p>
        </p:txBody>
      </p:sp>
      <p:sp>
        <p:nvSpPr>
          <p:cNvPr id="12" name="Rounded Rectangle 11"/>
          <p:cNvSpPr/>
          <p:nvPr/>
        </p:nvSpPr>
        <p:spPr>
          <a:xfrm>
            <a:off x="7973568" y="2697480"/>
            <a:ext cx="3392424" cy="301752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973568" y="2697480"/>
            <a:ext cx="3392424" cy="128016"/>
          </a:xfrm>
          <a:prstGeom prst="rect">
            <a:avLst/>
          </a:prstGeom>
          <a:solidFill>
            <a:srgbClr val="8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3081528"/>
            <a:ext cx="2880360" cy="2377440"/>
          </a:xfrm>
          <a:prstGeom prst="rect">
            <a:avLst/>
          </a:prstGeom>
          <a:noFill/>
        </p:spPr>
        <p:txBody>
          <a:bodyPr wrap="square" anchor="t" lIns="0" rIns="0" tIns="0" bIns="0">
            <a:spAutoFit/>
          </a:bodyPr>
          <a:lstStyle/>
          <a:p>
            <a:pPr algn="l">
              <a:spcBef>
                <a:spcPts val="0"/>
              </a:spcBef>
              <a:spcAft>
                <a:spcPts val="1000"/>
              </a:spcAft>
            </a:pPr>
            <a:r>
              <a:rPr sz="1900" b="1" i="0">
                <a:solidFill>
                  <a:srgbClr val="141413"/>
                </a:solidFill>
                <a:latin typeface="Georgia"/>
              </a:rPr>
              <a:t>No attribution</a:t>
            </a:r>
          </a:p>
          <a:p>
            <a:pPr algn="l">
              <a:lnSpc>
                <a:spcPct val="114000"/>
              </a:lnSpc>
              <a:spcBef>
                <a:spcPts val="0"/>
              </a:spcBef>
              <a:spcAft>
                <a:spcPts val="0"/>
              </a:spcAft>
            </a:pPr>
            <a:r>
              <a:rPr sz="1350" b="0" i="0">
                <a:solidFill>
                  <a:srgbClr val="3D3D3A"/>
                </a:solidFill>
                <a:latin typeface="Arial"/>
              </a:rPr>
              <a:t>The provider invoice arrives as one lump sum, leaving you unable to say which team or which person actually drove the cost.</a:t>
            </a:r>
          </a:p>
        </p:txBody>
      </p:sp>
      <p:sp>
        <p:nvSpPr>
          <p:cNvPr id="15" name="Rectangle 14"/>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7" name="TextBox 16"/>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HOW IT FITS</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The gateway sits between developers and Bedrock</a:t>
            </a:r>
          </a:p>
        </p:txBody>
      </p:sp>
      <p:sp>
        <p:nvSpPr>
          <p:cNvPr id="5" name="Rounded Rectangle 4"/>
          <p:cNvSpPr/>
          <p:nvPr/>
        </p:nvSpPr>
        <p:spPr>
          <a:xfrm>
            <a:off x="1051560" y="2514600"/>
            <a:ext cx="2743200" cy="1554480"/>
          </a:xfrm>
          <a:prstGeom prst="roundRect">
            <a:avLst>
              <a:gd name="adj" fmla="val 6000"/>
            </a:avLst>
          </a:prstGeom>
          <a:solidFill>
            <a:srgbClr val="F0EEE6"/>
          </a:solidFill>
          <a:ln w="19050">
            <a:solidFill>
              <a:srgbClr val="CC78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41413"/>
                </a:solidFill>
                <a:latin typeface="Georgia"/>
              </a:rPr>
              <a:t>Developer
Claude Code</a:t>
            </a:r>
          </a:p>
          <a:p>
            <a:pPr algn="ctr">
              <a:spcBef>
                <a:spcPts val="600"/>
              </a:spcBef>
            </a:pPr>
            <a:r>
              <a:rPr sz="1050" b="0" i="0">
                <a:solidFill>
                  <a:srgbClr val="737069"/>
                </a:solidFill>
                <a:latin typeface="Arial"/>
              </a:rPr>
              <a:t>Signs in with SSO</a:t>
            </a:r>
          </a:p>
        </p:txBody>
      </p:sp>
      <p:sp>
        <p:nvSpPr>
          <p:cNvPr id="6" name="Rectangle 5"/>
          <p:cNvSpPr/>
          <p:nvPr/>
        </p:nvSpPr>
        <p:spPr>
          <a:xfrm>
            <a:off x="3931920" y="3272790"/>
            <a:ext cx="1143000" cy="38100"/>
          </a:xfrm>
          <a:prstGeom prst="rect">
            <a:avLst/>
          </a:prstGeom>
          <a:solidFill>
            <a:srgbClr val="A8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5400000">
            <a:off x="5029200" y="3209544"/>
            <a:ext cx="164592" cy="164592"/>
          </a:xfrm>
          <a:prstGeom prst="triangle">
            <a:avLst/>
          </a:prstGeom>
          <a:solidFill>
            <a:srgbClr val="A8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212080" y="2514600"/>
            <a:ext cx="2743200" cy="1554480"/>
          </a:xfrm>
          <a:prstGeom prst="roundRect">
            <a:avLst>
              <a:gd name="adj" fmla="val 6000"/>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F0EEE6"/>
                </a:solidFill>
                <a:latin typeface="Georgia"/>
              </a:rPr>
              <a:t>Claude Apps
Gateway</a:t>
            </a:r>
          </a:p>
          <a:p>
            <a:pPr algn="ctr">
              <a:spcBef>
                <a:spcPts val="600"/>
              </a:spcBef>
            </a:pPr>
            <a:r>
              <a:rPr sz="1050" b="0" i="0">
                <a:solidFill>
                  <a:srgbClr val="F0EEE6"/>
                </a:solidFill>
                <a:latin typeface="Arial"/>
              </a:rPr>
              <a:t>Holds the credential and enforces policy</a:t>
            </a:r>
          </a:p>
        </p:txBody>
      </p:sp>
      <p:sp>
        <p:nvSpPr>
          <p:cNvPr id="9" name="Rectangle 8"/>
          <p:cNvSpPr/>
          <p:nvPr/>
        </p:nvSpPr>
        <p:spPr>
          <a:xfrm>
            <a:off x="8092440" y="3272790"/>
            <a:ext cx="1143000" cy="38100"/>
          </a:xfrm>
          <a:prstGeom prst="rect">
            <a:avLst/>
          </a:prstGeom>
          <a:solidFill>
            <a:srgbClr val="A8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rot="5400000">
            <a:off x="9189720" y="3209544"/>
            <a:ext cx="164592" cy="164592"/>
          </a:xfrm>
          <a:prstGeom prst="triangle">
            <a:avLst/>
          </a:prstGeom>
          <a:solidFill>
            <a:srgbClr val="A8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372600" y="2514600"/>
            <a:ext cx="2743200" cy="1554480"/>
          </a:xfrm>
          <a:prstGeom prst="roundRect">
            <a:avLst>
              <a:gd name="adj" fmla="val 6000"/>
            </a:avLst>
          </a:prstGeom>
          <a:solidFill>
            <a:srgbClr val="F0EEE6"/>
          </a:solidFill>
          <a:ln w="19050">
            <a:solidFill>
              <a:srgbClr val="CC78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i="0">
                <a:solidFill>
                  <a:srgbClr val="141413"/>
                </a:solidFill>
                <a:latin typeface="Georgia"/>
              </a:rPr>
              <a:t>Amazon
Bedrock</a:t>
            </a:r>
          </a:p>
          <a:p>
            <a:pPr algn="ctr">
              <a:spcBef>
                <a:spcPts val="600"/>
              </a:spcBef>
            </a:pPr>
            <a:r>
              <a:rPr sz="1050" b="0" i="0">
                <a:solidFill>
                  <a:srgbClr val="737069"/>
                </a:solidFill>
                <a:latin typeface="Arial"/>
              </a:rPr>
              <a:t>Serves Claude in your region</a:t>
            </a:r>
          </a:p>
        </p:txBody>
      </p:sp>
      <p:sp>
        <p:nvSpPr>
          <p:cNvPr id="12" name="TextBox 11"/>
          <p:cNvSpPr txBox="1"/>
          <p:nvPr/>
        </p:nvSpPr>
        <p:spPr>
          <a:xfrm>
            <a:off x="1051560" y="4526280"/>
            <a:ext cx="10058400" cy="1188720"/>
          </a:xfrm>
          <a:prstGeom prst="rect">
            <a:avLst/>
          </a:prstGeom>
          <a:noFill/>
        </p:spPr>
        <p:txBody>
          <a:bodyPr wrap="square" anchor="t" lIns="0" rIns="0" tIns="0" bIns="0">
            <a:spAutoFit/>
          </a:bodyPr>
          <a:lstStyle/>
          <a:p>
            <a:pPr algn="l">
              <a:spcBef>
                <a:spcPts val="0"/>
              </a:spcBef>
              <a:spcAft>
                <a:spcPts val="800"/>
              </a:spcAft>
            </a:pPr>
            <a:r>
              <a:rPr sz="1500" b="1" i="0">
                <a:solidFill>
                  <a:srgbClr val="141413"/>
                </a:solidFill>
                <a:latin typeface="Arial"/>
              </a:rPr>
              <a:t>Everything beneath the token stays inside your account.</a:t>
            </a:r>
          </a:p>
          <a:p>
            <a:pPr algn="l">
              <a:lnSpc>
                <a:spcPct val="118000"/>
              </a:lnSpc>
              <a:spcBef>
                <a:spcPts val="0"/>
              </a:spcBef>
              <a:spcAft>
                <a:spcPts val="0"/>
              </a:spcAft>
            </a:pPr>
            <a:r>
              <a:rPr sz="1350" b="0" i="0">
                <a:solidFill>
                  <a:srgbClr val="3D3D3A"/>
                </a:solidFill>
                <a:latin typeface="Arial"/>
              </a:rPr>
              <a:t>The gateway runs behind a private internal load balancer, signs users in against your own identity provider, and stores its state in your database. Unless you deliberately add the Anthropic API as an upstream, none of that traffic ever leaves your environment.</a:t>
            </a:r>
          </a:p>
        </p:txBody>
      </p:sp>
      <p:sp>
        <p:nvSpPr>
          <p:cNvPr id="13" name="Rectangle 12"/>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5" name="TextBox 14"/>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THE GOVERNANCE MODEL</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Three pillars, enforced server-side</a:t>
            </a:r>
          </a:p>
        </p:txBody>
      </p:sp>
      <p:sp>
        <p:nvSpPr>
          <p:cNvPr id="5" name="Rounded Rectangle 4"/>
          <p:cNvSpPr/>
          <p:nvPr/>
        </p:nvSpPr>
        <p:spPr>
          <a:xfrm>
            <a:off x="822960" y="1920240"/>
            <a:ext cx="3392424" cy="3977639"/>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240280"/>
            <a:ext cx="2843784" cy="3428999"/>
          </a:xfrm>
          <a:prstGeom prst="rect">
            <a:avLst/>
          </a:prstGeom>
          <a:noFill/>
        </p:spPr>
        <p:txBody>
          <a:bodyPr wrap="square" anchor="t" lIns="0" rIns="0" tIns="0" bIns="0">
            <a:spAutoFit/>
          </a:bodyPr>
          <a:lstStyle/>
          <a:p>
            <a:pPr algn="l">
              <a:spcBef>
                <a:spcPts val="0"/>
              </a:spcBef>
              <a:spcAft>
                <a:spcPts val="400"/>
              </a:spcAft>
            </a:pPr>
            <a:r>
              <a:rPr sz="3000" b="1" i="0">
                <a:solidFill>
                  <a:srgbClr val="CC785C"/>
                </a:solidFill>
                <a:latin typeface="Georgia"/>
              </a:rPr>
              <a:t>01</a:t>
            </a:r>
          </a:p>
          <a:p>
            <a:pPr algn="l">
              <a:spcBef>
                <a:spcPts val="0"/>
              </a:spcBef>
              <a:spcAft>
                <a:spcPts val="200"/>
              </a:spcAft>
            </a:pPr>
            <a:r>
              <a:rPr sz="2200" b="1" i="0">
                <a:solidFill>
                  <a:srgbClr val="141413"/>
                </a:solidFill>
                <a:latin typeface="Georgia"/>
              </a:rPr>
              <a:t>Quota</a:t>
            </a:r>
          </a:p>
          <a:p>
            <a:pPr algn="l">
              <a:spcBef>
                <a:spcPts val="0"/>
              </a:spcBef>
              <a:spcAft>
                <a:spcPts val="1200"/>
              </a:spcAft>
            </a:pPr>
            <a:r>
              <a:rPr sz="1350" b="1" i="0">
                <a:solidFill>
                  <a:srgbClr val="CC785C"/>
                </a:solidFill>
                <a:latin typeface="Arial"/>
              </a:rPr>
              <a:t>Cap spend before it happens</a:t>
            </a:r>
          </a:p>
          <a:p>
            <a:pPr algn="l">
              <a:lnSpc>
                <a:spcPct val="116000"/>
              </a:lnSpc>
              <a:spcBef>
                <a:spcPts val="0"/>
              </a:spcBef>
              <a:spcAft>
                <a:spcPts val="0"/>
              </a:spcAft>
            </a:pPr>
            <a:r>
              <a:rPr sz="1350" b="0" i="0">
                <a:solidFill>
                  <a:srgbClr val="3D3D3A"/>
                </a:solidFill>
                <a:latin typeface="Arial"/>
              </a:rPr>
              <a:t>You give each person, team, or the whole organization a budget, and the gateway refuses any request that would exceed it — a circuit breaker on a shared bill.</a:t>
            </a:r>
          </a:p>
        </p:txBody>
      </p:sp>
      <p:sp>
        <p:nvSpPr>
          <p:cNvPr id="7" name="Rounded Rectangle 6"/>
          <p:cNvSpPr/>
          <p:nvPr/>
        </p:nvSpPr>
        <p:spPr>
          <a:xfrm>
            <a:off x="4398264" y="1920240"/>
            <a:ext cx="3392424" cy="3977639"/>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2240280"/>
            <a:ext cx="2843784" cy="3428999"/>
          </a:xfrm>
          <a:prstGeom prst="rect">
            <a:avLst/>
          </a:prstGeom>
          <a:noFill/>
        </p:spPr>
        <p:txBody>
          <a:bodyPr wrap="square" anchor="t" lIns="0" rIns="0" tIns="0" bIns="0">
            <a:spAutoFit/>
          </a:bodyPr>
          <a:lstStyle/>
          <a:p>
            <a:pPr algn="l">
              <a:spcBef>
                <a:spcPts val="0"/>
              </a:spcBef>
              <a:spcAft>
                <a:spcPts val="400"/>
              </a:spcAft>
            </a:pPr>
            <a:r>
              <a:rPr sz="3000" b="1" i="0">
                <a:solidFill>
                  <a:srgbClr val="628C9E"/>
                </a:solidFill>
                <a:latin typeface="Georgia"/>
              </a:rPr>
              <a:t>02</a:t>
            </a:r>
          </a:p>
          <a:p>
            <a:pPr algn="l">
              <a:spcBef>
                <a:spcPts val="0"/>
              </a:spcBef>
              <a:spcAft>
                <a:spcPts val="200"/>
              </a:spcAft>
            </a:pPr>
            <a:r>
              <a:rPr sz="2200" b="1" i="0">
                <a:solidFill>
                  <a:srgbClr val="141413"/>
                </a:solidFill>
                <a:latin typeface="Georgia"/>
              </a:rPr>
              <a:t>Access</a:t>
            </a:r>
          </a:p>
          <a:p>
            <a:pPr algn="l">
              <a:spcBef>
                <a:spcPts val="0"/>
              </a:spcBef>
              <a:spcAft>
                <a:spcPts val="1200"/>
              </a:spcAft>
            </a:pPr>
            <a:r>
              <a:rPr sz="1350" b="1" i="0">
                <a:solidFill>
                  <a:srgbClr val="628C9E"/>
                </a:solidFill>
                <a:latin typeface="Arial"/>
              </a:rPr>
              <a:t>The right models and tools per team</a:t>
            </a:r>
          </a:p>
          <a:p>
            <a:pPr algn="l">
              <a:lnSpc>
                <a:spcPct val="116000"/>
              </a:lnSpc>
              <a:spcBef>
                <a:spcPts val="0"/>
              </a:spcBef>
              <a:spcAft>
                <a:spcPts val="0"/>
              </a:spcAft>
            </a:pPr>
            <a:r>
              <a:rPr sz="1350" b="0" i="0">
                <a:solidFill>
                  <a:srgbClr val="3D3D3A"/>
                </a:solidFill>
                <a:latin typeface="Arial"/>
              </a:rPr>
              <a:t>Each identity group maps to its own set of allowed models and tools, and the gateway enforces that choice at the API rather than merely hiding it in the interface.</a:t>
            </a:r>
          </a:p>
        </p:txBody>
      </p:sp>
      <p:sp>
        <p:nvSpPr>
          <p:cNvPr id="9" name="Rounded Rectangle 8"/>
          <p:cNvSpPr/>
          <p:nvPr/>
        </p:nvSpPr>
        <p:spPr>
          <a:xfrm>
            <a:off x="7973568" y="1920240"/>
            <a:ext cx="3392424" cy="3977639"/>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47888" y="2240280"/>
            <a:ext cx="2843784" cy="3428999"/>
          </a:xfrm>
          <a:prstGeom prst="rect">
            <a:avLst/>
          </a:prstGeom>
          <a:noFill/>
        </p:spPr>
        <p:txBody>
          <a:bodyPr wrap="square" anchor="t" lIns="0" rIns="0" tIns="0" bIns="0">
            <a:spAutoFit/>
          </a:bodyPr>
          <a:lstStyle/>
          <a:p>
            <a:pPr algn="l">
              <a:spcBef>
                <a:spcPts val="0"/>
              </a:spcBef>
              <a:spcAft>
                <a:spcPts val="400"/>
              </a:spcAft>
            </a:pPr>
            <a:r>
              <a:rPr sz="3000" b="1" i="0">
                <a:solidFill>
                  <a:srgbClr val="8A9A5B"/>
                </a:solidFill>
                <a:latin typeface="Georgia"/>
              </a:rPr>
              <a:t>03</a:t>
            </a:r>
          </a:p>
          <a:p>
            <a:pPr algn="l">
              <a:spcBef>
                <a:spcPts val="0"/>
              </a:spcBef>
              <a:spcAft>
                <a:spcPts val="200"/>
              </a:spcAft>
            </a:pPr>
            <a:r>
              <a:rPr sz="2200" b="1" i="0">
                <a:solidFill>
                  <a:srgbClr val="141413"/>
                </a:solidFill>
                <a:latin typeface="Georgia"/>
              </a:rPr>
              <a:t>Visibility</a:t>
            </a:r>
          </a:p>
          <a:p>
            <a:pPr algn="l">
              <a:spcBef>
                <a:spcPts val="0"/>
              </a:spcBef>
              <a:spcAft>
                <a:spcPts val="1200"/>
              </a:spcAft>
            </a:pPr>
            <a:r>
              <a:rPr sz="1350" b="1" i="0">
                <a:solidFill>
                  <a:srgbClr val="8A9A5B"/>
                </a:solidFill>
                <a:latin typeface="Arial"/>
              </a:rPr>
              <a:t>Know who spent what, and what they did</a:t>
            </a:r>
          </a:p>
          <a:p>
            <a:pPr algn="l">
              <a:lnSpc>
                <a:spcPct val="116000"/>
              </a:lnSpc>
              <a:spcBef>
                <a:spcPts val="0"/>
              </a:spcBef>
              <a:spcAft>
                <a:spcPts val="0"/>
              </a:spcAft>
            </a:pPr>
            <a:r>
              <a:rPr sz="1350" b="0" i="0">
                <a:solidFill>
                  <a:srgbClr val="3D3D3A"/>
                </a:solidFill>
                <a:latin typeface="Arial"/>
              </a:rPr>
              <a:t>Every metric and audit event carries the developer's identity, so you can attribute cost, review activity, and be alerted the moment spending looks unusual.</a:t>
            </a:r>
          </a:p>
        </p:txBody>
      </p:sp>
      <p:sp>
        <p:nvSpPr>
          <p:cNvPr id="11" name="Rectangle 10"/>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3" name="TextBox 12"/>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PILLAR 01 · QUOTA MANAGEMENT</a:t>
            </a:r>
          </a:p>
        </p:txBody>
      </p:sp>
      <p:sp>
        <p:nvSpPr>
          <p:cNvPr id="5" name="TextBox 4"/>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Cap runaway spend on a credential everyone shares</a:t>
            </a:r>
          </a:p>
        </p:txBody>
      </p:sp>
      <p:sp>
        <p:nvSpPr>
          <p:cNvPr id="6" name="TextBox 5"/>
          <p:cNvSpPr txBox="1"/>
          <p:nvPr/>
        </p:nvSpPr>
        <p:spPr>
          <a:xfrm>
            <a:off x="822960" y="2011680"/>
            <a:ext cx="6309360" cy="3840480"/>
          </a:xfrm>
          <a:prstGeom prst="rect">
            <a:avLst/>
          </a:prstGeom>
          <a:noFill/>
        </p:spPr>
        <p:txBody>
          <a:bodyPr wrap="square" anchor="t" lIns="0" rIns="0" tIns="0" bIns="0">
            <a:spAutoFit/>
          </a:bodyPr>
          <a:lstStyle/>
          <a:p>
            <a:pPr algn="l">
              <a:lnSpc>
                <a:spcPct val="108000"/>
              </a:lnSpc>
              <a:spcAft>
                <a:spcPts val="1800"/>
              </a:spcAft>
            </a:pPr>
            <a:r>
              <a:rPr sz="1550" b="1" i="0">
                <a:solidFill>
                  <a:srgbClr val="CC785C"/>
                </a:solidFill>
                <a:latin typeface="Arial"/>
              </a:rPr>
              <a:t>—  </a:t>
            </a:r>
            <a:r>
              <a:rPr sz="1550" b="1" i="0">
                <a:solidFill>
                  <a:srgbClr val="141413"/>
                </a:solidFill>
                <a:latin typeface="Arial"/>
              </a:rPr>
              <a:t>You set the ceiling. </a:t>
            </a:r>
            <a:r>
              <a:rPr sz="1550" b="0" i="0">
                <a:solidFill>
                  <a:srgbClr val="3D3D3A"/>
                </a:solidFill>
                <a:latin typeface="Arial"/>
              </a:rPr>
              <a:t>Each developer, each team, or the whole organization is given a daily, weekly, or monthly budget that reflects how you actually want the shared credential used.</a:t>
            </a:r>
          </a:p>
          <a:p>
            <a:pPr algn="l">
              <a:lnSpc>
                <a:spcPct val="108000"/>
              </a:lnSpc>
              <a:spcAft>
                <a:spcPts val="1800"/>
              </a:spcAft>
            </a:pPr>
            <a:r>
              <a:rPr sz="1550" b="1" i="0">
                <a:solidFill>
                  <a:srgbClr val="CC785C"/>
                </a:solidFill>
                <a:latin typeface="Arial"/>
              </a:rPr>
              <a:t>—  </a:t>
            </a:r>
            <a:r>
              <a:rPr sz="1550" b="1" i="0">
                <a:solidFill>
                  <a:srgbClr val="141413"/>
                </a:solidFill>
                <a:latin typeface="Arial"/>
              </a:rPr>
              <a:t>The gateway enforces it live. </a:t>
            </a:r>
            <a:r>
              <a:rPr sz="1550" b="0" i="0">
                <a:solidFill>
                  <a:srgbClr val="3D3D3A"/>
                </a:solidFill>
                <a:latin typeface="Arial"/>
              </a:rPr>
              <a:t>It checks the running total on every request, so a single runaway agent is stopped in the moment rather than discovered on next month's invoice.</a:t>
            </a:r>
          </a:p>
          <a:p>
            <a:pPr algn="l">
              <a:lnSpc>
                <a:spcPct val="108000"/>
              </a:lnSpc>
              <a:spcAft>
                <a:spcPts val="1800"/>
              </a:spcAft>
            </a:pPr>
            <a:r>
              <a:rPr sz="1550" b="1" i="0">
                <a:solidFill>
                  <a:srgbClr val="CC785C"/>
                </a:solidFill>
                <a:latin typeface="Arial"/>
              </a:rPr>
              <a:t>—  </a:t>
            </a:r>
            <a:r>
              <a:rPr sz="1550" b="1" i="0">
                <a:solidFill>
                  <a:srgbClr val="141413"/>
                </a:solidFill>
                <a:latin typeface="Arial"/>
              </a:rPr>
              <a:t>Raising a limit takes seconds. </a:t>
            </a:r>
            <a:r>
              <a:rPr sz="1550" b="0" i="0">
                <a:solidFill>
                  <a:srgbClr val="3D3D3A"/>
                </a:solidFill>
                <a:latin typeface="Arial"/>
              </a:rPr>
              <a:t>When someone legitimately needs more room, an administrator lifts their cap with one API call and the very next request succeeds — no redeployment required.</a:t>
            </a:r>
          </a:p>
        </p:txBody>
      </p:sp>
      <p:sp>
        <p:nvSpPr>
          <p:cNvPr id="7" name="Rounded Rectangle 6"/>
          <p:cNvSpPr/>
          <p:nvPr/>
        </p:nvSpPr>
        <p:spPr>
          <a:xfrm>
            <a:off x="7452360" y="2103120"/>
            <a:ext cx="3886200" cy="3200400"/>
          </a:xfrm>
          <a:prstGeom prst="roundRect">
            <a:avLst>
              <a:gd name="adj" fmla="val 6000"/>
            </a:avLst>
          </a:prstGeom>
          <a:solidFill>
            <a:srgbClr val="1414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0" y="2514600"/>
            <a:ext cx="3291840" cy="2743200"/>
          </a:xfrm>
          <a:prstGeom prst="rect">
            <a:avLst/>
          </a:prstGeom>
          <a:noFill/>
        </p:spPr>
        <p:txBody>
          <a:bodyPr wrap="square" anchor="t" lIns="0" rIns="0" tIns="0" bIns="0">
            <a:spAutoFit/>
          </a:bodyPr>
          <a:lstStyle/>
          <a:p>
            <a:pPr algn="ctr">
              <a:spcBef>
                <a:spcPts val="0"/>
              </a:spcBef>
              <a:spcAft>
                <a:spcPts val="0"/>
              </a:spcAft>
            </a:pPr>
            <a:r>
              <a:rPr sz="6400" b="1" i="0">
                <a:solidFill>
                  <a:srgbClr val="CC785C"/>
                </a:solidFill>
                <a:latin typeface="Georgia"/>
              </a:rPr>
              <a:t>429</a:t>
            </a:r>
          </a:p>
          <a:p>
            <a:pPr algn="ctr">
              <a:spcBef>
                <a:spcPts val="0"/>
              </a:spcBef>
              <a:spcAft>
                <a:spcPts val="1400"/>
              </a:spcAft>
            </a:pPr>
            <a:r>
              <a:rPr sz="1500" b="0" i="0">
                <a:solidFill>
                  <a:srgbClr val="E8E6DE"/>
                </a:solidFill>
                <a:latin typeface="Courier New"/>
              </a:rPr>
              <a:t>billing_error</a:t>
            </a:r>
          </a:p>
          <a:p>
            <a:pPr algn="ctr">
              <a:lnSpc>
                <a:spcPct val="120000"/>
              </a:lnSpc>
              <a:spcBef>
                <a:spcPts val="0"/>
              </a:spcBef>
              <a:spcAft>
                <a:spcPts val="0"/>
              </a:spcAft>
            </a:pPr>
            <a:r>
              <a:rPr sz="1300" b="0" i="0">
                <a:solidFill>
                  <a:srgbClr val="F0EEE6"/>
                </a:solidFill>
                <a:latin typeface="Arial"/>
              </a:rPr>
              <a:t>This is what a developer receives the moment they cross their cap, and it clears automatically once the period resets or an administrator raises the limit.</a:t>
            </a:r>
          </a:p>
        </p:txBody>
      </p:sp>
      <p:sp>
        <p:nvSpPr>
          <p:cNvPr id="9" name="Rectangle 8"/>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1" name="TextBox 10"/>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PILLAR 01 · QUOTA MANAGEMENT</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Configure once, set caps with a simple API</a:t>
            </a:r>
          </a:p>
        </p:txBody>
      </p:sp>
      <p:sp>
        <p:nvSpPr>
          <p:cNvPr id="5" name="TextBox 4"/>
          <p:cNvSpPr txBox="1"/>
          <p:nvPr/>
        </p:nvSpPr>
        <p:spPr>
          <a:xfrm>
            <a:off x="822960" y="1874519"/>
            <a:ext cx="5029200" cy="4206240"/>
          </a:xfrm>
          <a:prstGeom prst="rect">
            <a:avLst/>
          </a:prstGeom>
          <a:noFill/>
        </p:spPr>
        <p:txBody>
          <a:bodyPr wrap="square" anchor="t" lIns="0" rIns="0" tIns="0" bIns="0">
            <a:spAutoFit/>
          </a:bodyPr>
          <a:lstStyle/>
          <a:p>
            <a:pPr algn="l">
              <a:lnSpc>
                <a:spcPct val="108000"/>
              </a:lnSpc>
              <a:spcAft>
                <a:spcPts val="1600"/>
              </a:spcAft>
            </a:pPr>
            <a:r>
              <a:rPr sz="1450" b="1" i="0">
                <a:solidFill>
                  <a:srgbClr val="CC785C"/>
                </a:solidFill>
                <a:latin typeface="Arial"/>
              </a:rPr>
              <a:t>—  </a:t>
            </a:r>
            <a:r>
              <a:rPr sz="1450" b="1" i="0">
                <a:solidFill>
                  <a:srgbClr val="141413"/>
                </a:solidFill>
                <a:latin typeface="Arial"/>
              </a:rPr>
              <a:t>You enable it once at deploy time. </a:t>
            </a:r>
            <a:r>
              <a:rPr sz="1450" b="0" i="0">
                <a:solidFill>
                  <a:srgbClr val="3D3D3A"/>
                </a:solidFill>
                <a:latin typeface="Arial"/>
              </a:rPr>
              <a:t>Setting a single flag turns on the admin API, and the secret write key is injected securely from Secrets Manager.</a:t>
            </a:r>
          </a:p>
          <a:p>
            <a:pPr algn="l">
              <a:lnSpc>
                <a:spcPct val="108000"/>
              </a:lnSpc>
              <a:spcAft>
                <a:spcPts val="1600"/>
              </a:spcAft>
            </a:pPr>
            <a:r>
              <a:rPr sz="1450" b="1" i="0">
                <a:solidFill>
                  <a:srgbClr val="CC785C"/>
                </a:solidFill>
                <a:latin typeface="Arial"/>
              </a:rPr>
              <a:t>—  </a:t>
            </a:r>
            <a:r>
              <a:rPr sz="1450" b="1" i="0">
                <a:solidFill>
                  <a:srgbClr val="141413"/>
                </a:solidFill>
                <a:latin typeface="Arial"/>
              </a:rPr>
              <a:t>You then set caps by scope. </a:t>
            </a:r>
            <a:r>
              <a:rPr sz="1450" b="0" i="0">
                <a:solidFill>
                  <a:srgbClr val="3D3D3A"/>
                </a:solidFill>
                <a:latin typeface="Arial"/>
              </a:rPr>
              <a:t>The same call targets one developer, an entire identity group, or the organization as a whole, with the amount given in US cents.</a:t>
            </a:r>
          </a:p>
          <a:p>
            <a:pPr algn="l">
              <a:lnSpc>
                <a:spcPct val="108000"/>
              </a:lnSpc>
              <a:spcAft>
                <a:spcPts val="1600"/>
              </a:spcAft>
            </a:pPr>
            <a:r>
              <a:rPr sz="1450" b="1" i="0">
                <a:solidFill>
                  <a:srgbClr val="CC785C"/>
                </a:solidFill>
                <a:latin typeface="Arial"/>
              </a:rPr>
              <a:t>—  </a:t>
            </a:r>
            <a:r>
              <a:rPr sz="1450" b="1" i="0">
                <a:solidFill>
                  <a:srgbClr val="141413"/>
                </a:solidFill>
                <a:latin typeface="Arial"/>
              </a:rPr>
              <a:t>Availability stays in your control. </a:t>
            </a:r>
            <a:r>
              <a:rPr sz="1450" b="0" i="0">
                <a:solidFill>
                  <a:srgbClr val="3D3D3A"/>
                </a:solidFill>
                <a:latin typeface="Arial"/>
              </a:rPr>
              <a:t>If the database is briefly unreachable, the gateway keeps serving by default; you can instead choose to fail closed so no spend ever goes unmetered.</a:t>
            </a:r>
          </a:p>
        </p:txBody>
      </p:sp>
      <p:sp>
        <p:nvSpPr>
          <p:cNvPr id="6" name="Rounded Rectangle 5"/>
          <p:cNvSpPr/>
          <p:nvPr/>
        </p:nvSpPr>
        <p:spPr>
          <a:xfrm>
            <a:off x="6080760" y="1783080"/>
            <a:ext cx="5257800" cy="4251960"/>
          </a:xfrm>
          <a:prstGeom prst="roundRect">
            <a:avLst>
              <a:gd name="adj" fmla="val 6000"/>
            </a:avLst>
          </a:prstGeom>
          <a:solidFill>
            <a:srgbClr val="222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281928" y="1892808"/>
            <a:ext cx="4855464" cy="274320"/>
          </a:xfrm>
          <a:prstGeom prst="rect">
            <a:avLst/>
          </a:prstGeom>
          <a:noFill/>
        </p:spPr>
        <p:txBody>
          <a:bodyPr wrap="square" anchor="t" lIns="0" rIns="0" tIns="0" bIns="0">
            <a:spAutoFit/>
          </a:bodyPr>
          <a:lstStyle/>
          <a:p>
            <a:pPr algn="l">
              <a:spcBef>
                <a:spcPts val="0"/>
              </a:spcBef>
              <a:spcAft>
                <a:spcPts val="0"/>
              </a:spcAft>
            </a:pPr>
            <a:r>
              <a:rPr sz="1000" b="1" i="0">
                <a:solidFill>
                  <a:srgbClr val="CC785C"/>
                </a:solidFill>
                <a:latin typeface="Arial"/>
              </a:rPr>
              <a:t>terminal</a:t>
            </a:r>
          </a:p>
        </p:txBody>
      </p:sp>
      <p:sp>
        <p:nvSpPr>
          <p:cNvPr id="8" name="TextBox 7"/>
          <p:cNvSpPr txBox="1"/>
          <p:nvPr/>
        </p:nvSpPr>
        <p:spPr>
          <a:xfrm>
            <a:off x="6281928" y="2240280"/>
            <a:ext cx="4855464" cy="3657600"/>
          </a:xfrm>
          <a:prstGeom prst="rect">
            <a:avLst/>
          </a:prstGeom>
          <a:noFill/>
        </p:spPr>
        <p:txBody>
          <a:bodyPr wrap="square" anchor="t" lIns="0" rIns="0" tIns="0" bIns="0">
            <a:spAutoFit/>
          </a:bodyPr>
          <a:lstStyle/>
          <a:p>
            <a:pPr algn="l">
              <a:lnSpc>
                <a:spcPct val="105000"/>
              </a:lnSpc>
              <a:spcBef>
                <a:spcPts val="0"/>
              </a:spcBef>
              <a:spcAft>
                <a:spcPts val="200"/>
              </a:spcAft>
            </a:pPr>
            <a:r>
              <a:rPr sz="1150" b="0" i="0">
                <a:solidFill>
                  <a:srgbClr val="737069"/>
                </a:solidFill>
                <a:latin typeface="Courier New"/>
              </a:rPr>
              <a:t># 1. Enable enforcement at deploy time</a:t>
            </a:r>
          </a:p>
          <a:p>
            <a:pPr algn="l">
              <a:lnSpc>
                <a:spcPct val="105000"/>
              </a:lnSpc>
              <a:spcBef>
                <a:spcPts val="0"/>
              </a:spcBef>
              <a:spcAft>
                <a:spcPts val="200"/>
              </a:spcAft>
            </a:pPr>
            <a:r>
              <a:rPr sz="1150" b="0" i="0">
                <a:solidFill>
                  <a:srgbClr val="E8E6DE"/>
                </a:solidFill>
                <a:latin typeface="Courier New"/>
              </a:rPr>
              <a:t>export ENABLE_SPEND_CAPS=true</a:t>
            </a:r>
          </a:p>
          <a:p>
            <a:pPr algn="l">
              <a:lnSpc>
                <a:spcPct val="105000"/>
              </a:lnSpc>
              <a:spcBef>
                <a:spcPts val="0"/>
              </a:spcBef>
              <a:spcAft>
                <a:spcPts val="200"/>
              </a:spcAft>
            </a:pPr>
            <a:r>
              <a:rPr sz="1150" b="0" i="0">
                <a:solidFill>
                  <a:srgbClr val="E8E6DE"/>
                </a:solidFill>
                <a:latin typeface="Courier New"/>
              </a:rPr>
              <a:t>export GATEWAY_ADMIN_WRITE_KEY_ARN=arn:...</a:t>
            </a:r>
          </a:p>
          <a:p>
            <a:pPr algn="l">
              <a:lnSpc>
                <a:spcPct val="105000"/>
              </a:lnSpc>
              <a:spcBef>
                <a:spcPts val="0"/>
              </a:spcBef>
              <a:spcAft>
                <a:spcPts val="200"/>
              </a:spcAft>
            </a:pPr>
            <a:r>
              <a:rPr sz="1150" b="0" i="0">
                <a:solidFill>
                  <a:srgbClr val="E8E6DE"/>
                </a:solidFill>
                <a:latin typeface="Courier New"/>
              </a:rPr>
              <a:t>./deploy.sh</a:t>
            </a:r>
          </a:p>
          <a:p>
            <a:pPr algn="l">
              <a:lnSpc>
                <a:spcPct val="105000"/>
              </a:lnSpc>
              <a:spcBef>
                <a:spcPts val="0"/>
              </a:spcBef>
              <a:spcAft>
                <a:spcPts val="200"/>
              </a:spcAft>
            </a:pPr>
            <a:r>
              <a:rPr sz="1150" b="0" i="0">
                <a:solidFill>
                  <a:srgbClr val="E8E6DE"/>
                </a:solidFill>
                <a:latin typeface="Courier New"/>
              </a:rPr>
              <a:t> </a:t>
            </a:r>
          </a:p>
          <a:p>
            <a:pPr algn="l">
              <a:lnSpc>
                <a:spcPct val="105000"/>
              </a:lnSpc>
              <a:spcBef>
                <a:spcPts val="0"/>
              </a:spcBef>
              <a:spcAft>
                <a:spcPts val="200"/>
              </a:spcAft>
            </a:pPr>
            <a:r>
              <a:rPr sz="1150" b="0" i="0">
                <a:solidFill>
                  <a:srgbClr val="737069"/>
                </a:solidFill>
                <a:latin typeface="Courier New"/>
              </a:rPr>
              <a:t># 2. $500 / developer / month, org-wide</a:t>
            </a:r>
          </a:p>
          <a:p>
            <a:pPr algn="l">
              <a:lnSpc>
                <a:spcPct val="105000"/>
              </a:lnSpc>
              <a:spcBef>
                <a:spcPts val="0"/>
              </a:spcBef>
              <a:spcAft>
                <a:spcPts val="200"/>
              </a:spcAft>
            </a:pPr>
            <a:r>
              <a:rPr sz="1150" b="0" i="0">
                <a:solidFill>
                  <a:srgbClr val="8A9A5B"/>
                </a:solidFill>
                <a:latin typeface="Courier New"/>
              </a:rPr>
              <a:t>curl -X POST $GW/v1/organizations/\</a:t>
            </a:r>
          </a:p>
          <a:p>
            <a:pPr algn="l">
              <a:lnSpc>
                <a:spcPct val="105000"/>
              </a:lnSpc>
              <a:spcBef>
                <a:spcPts val="0"/>
              </a:spcBef>
              <a:spcAft>
                <a:spcPts val="200"/>
              </a:spcAft>
            </a:pPr>
            <a:r>
              <a:rPr sz="1150" b="0" i="0">
                <a:solidFill>
                  <a:srgbClr val="8A9A5B"/>
                </a:solidFill>
                <a:latin typeface="Courier New"/>
              </a:rPr>
              <a:t>  spend_limits \</a:t>
            </a:r>
          </a:p>
          <a:p>
            <a:pPr algn="l">
              <a:lnSpc>
                <a:spcPct val="105000"/>
              </a:lnSpc>
              <a:spcBef>
                <a:spcPts val="0"/>
              </a:spcBef>
              <a:spcAft>
                <a:spcPts val="200"/>
              </a:spcAft>
            </a:pPr>
            <a:r>
              <a:rPr sz="1150" b="0" i="0">
                <a:solidFill>
                  <a:srgbClr val="E8E6DE"/>
                </a:solidFill>
                <a:latin typeface="Courier New"/>
              </a:rPr>
              <a:t>  -H "x-api-key: $ADMIN_KEY" \</a:t>
            </a:r>
          </a:p>
          <a:p>
            <a:pPr algn="l">
              <a:lnSpc>
                <a:spcPct val="105000"/>
              </a:lnSpc>
              <a:spcBef>
                <a:spcPts val="0"/>
              </a:spcBef>
              <a:spcAft>
                <a:spcPts val="200"/>
              </a:spcAft>
            </a:pPr>
            <a:r>
              <a:rPr sz="1150" b="0" i="0">
                <a:solidFill>
                  <a:srgbClr val="E8E6DE"/>
                </a:solidFill>
                <a:latin typeface="Courier New"/>
              </a:rPr>
              <a:t>  -d '{"scope":{"type":</a:t>
            </a:r>
          </a:p>
          <a:p>
            <a:pPr algn="l">
              <a:lnSpc>
                <a:spcPct val="105000"/>
              </a:lnSpc>
              <a:spcBef>
                <a:spcPts val="0"/>
              </a:spcBef>
              <a:spcAft>
                <a:spcPts val="200"/>
              </a:spcAft>
            </a:pPr>
            <a:r>
              <a:rPr sz="1150" b="0" i="0">
                <a:solidFill>
                  <a:srgbClr val="E8E6DE"/>
                </a:solidFill>
                <a:latin typeface="Courier New"/>
              </a:rPr>
              <a:t>       "organization"},</a:t>
            </a:r>
          </a:p>
          <a:p>
            <a:pPr algn="l">
              <a:lnSpc>
                <a:spcPct val="105000"/>
              </a:lnSpc>
              <a:spcBef>
                <a:spcPts val="0"/>
              </a:spcBef>
              <a:spcAft>
                <a:spcPts val="200"/>
              </a:spcAft>
            </a:pPr>
            <a:r>
              <a:rPr sz="1150" b="0" i="0">
                <a:solidFill>
                  <a:srgbClr val="E8E6DE"/>
                </a:solidFill>
                <a:latin typeface="Courier New"/>
              </a:rPr>
              <a:t>       "amount":"50000",</a:t>
            </a:r>
          </a:p>
          <a:p>
            <a:pPr algn="l">
              <a:lnSpc>
                <a:spcPct val="105000"/>
              </a:lnSpc>
              <a:spcBef>
                <a:spcPts val="0"/>
              </a:spcBef>
              <a:spcAft>
                <a:spcPts val="200"/>
              </a:spcAft>
            </a:pPr>
            <a:r>
              <a:rPr sz="1150" b="0" i="0">
                <a:solidFill>
                  <a:srgbClr val="E8E6DE"/>
                </a:solidFill>
                <a:latin typeface="Courier New"/>
              </a:rPr>
              <a:t>       "period":"monthly"}'</a:t>
            </a:r>
          </a:p>
          <a:p>
            <a:pPr algn="l">
              <a:lnSpc>
                <a:spcPct val="105000"/>
              </a:lnSpc>
              <a:spcBef>
                <a:spcPts val="0"/>
              </a:spcBef>
              <a:spcAft>
                <a:spcPts val="200"/>
              </a:spcAft>
            </a:pPr>
            <a:r>
              <a:rPr sz="1150" b="0" i="0">
                <a:solidFill>
                  <a:srgbClr val="E8E6DE"/>
                </a:solidFill>
                <a:latin typeface="Courier New"/>
              </a:rPr>
              <a:t> </a:t>
            </a:r>
          </a:p>
          <a:p>
            <a:pPr algn="l">
              <a:lnSpc>
                <a:spcPct val="105000"/>
              </a:lnSpc>
              <a:spcBef>
                <a:spcPts val="0"/>
              </a:spcBef>
              <a:spcAft>
                <a:spcPts val="200"/>
              </a:spcAft>
            </a:pPr>
            <a:r>
              <a:rPr sz="1150" b="0" i="0">
                <a:solidFill>
                  <a:srgbClr val="737069"/>
                </a:solidFill>
                <a:latin typeface="Courier New"/>
              </a:rPr>
              <a:t># amount is USD cents · null = unlimited</a:t>
            </a:r>
          </a:p>
        </p:txBody>
      </p:sp>
      <p:sp>
        <p:nvSpPr>
          <p:cNvPr id="9" name="Rectangle 8"/>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1" name="TextBox 10"/>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PILLAR 01 · QUOTA MANAGEMENT</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Which budget applies to a given developer</a:t>
            </a:r>
          </a:p>
        </p:txBody>
      </p:sp>
      <p:sp>
        <p:nvSpPr>
          <p:cNvPr id="5" name="TextBox 4"/>
          <p:cNvSpPr txBox="1"/>
          <p:nvPr/>
        </p:nvSpPr>
        <p:spPr>
          <a:xfrm>
            <a:off x="822960" y="1691640"/>
            <a:ext cx="6126480" cy="1371600"/>
          </a:xfrm>
          <a:prstGeom prst="rect">
            <a:avLst/>
          </a:prstGeom>
          <a:noFill/>
        </p:spPr>
        <p:txBody>
          <a:bodyPr wrap="square" anchor="t" lIns="0" rIns="0" tIns="0" bIns="0">
            <a:spAutoFit/>
          </a:bodyPr>
          <a:lstStyle/>
          <a:p>
            <a:pPr algn="l">
              <a:lnSpc>
                <a:spcPct val="122000"/>
              </a:lnSpc>
              <a:spcBef>
                <a:spcPts val="0"/>
              </a:spcBef>
              <a:spcAft>
                <a:spcPts val="0"/>
              </a:spcAft>
            </a:pPr>
            <a:r>
              <a:rPr sz="1400" b="0" i="0">
                <a:solidFill>
                  <a:srgbClr val="3D3D3A"/>
                </a:solidFill>
                <a:latin typeface="Arial"/>
              </a:rPr>
              <a:t>A developer can be covered by several budgets at once — one they were given personally, one attached to each team they belong to, and the organization-wide default. Rather than adding these together, the gateway picks the single budget that should govern them, working from the most specific rule to the most general.</a:t>
            </a:r>
          </a:p>
        </p:txBody>
      </p:sp>
      <p:sp>
        <p:nvSpPr>
          <p:cNvPr id="6" name="TextBox 5"/>
          <p:cNvSpPr txBox="1"/>
          <p:nvPr/>
        </p:nvSpPr>
        <p:spPr>
          <a:xfrm>
            <a:off x="822960" y="3063240"/>
            <a:ext cx="6172200" cy="777240"/>
          </a:xfrm>
          <a:prstGeom prst="rect">
            <a:avLst/>
          </a:prstGeom>
          <a:noFill/>
        </p:spPr>
        <p:txBody>
          <a:bodyPr wrap="square" anchor="t" lIns="0" rIns="0" tIns="0" bIns="0">
            <a:spAutoFit/>
          </a:bodyPr>
          <a:lstStyle/>
          <a:p>
            <a:pPr algn="l">
              <a:spcBef>
                <a:spcPts val="0"/>
              </a:spcBef>
              <a:spcAft>
                <a:spcPts val="200"/>
              </a:spcAft>
            </a:pPr>
            <a:r>
              <a:rPr sz="1350" b="1" i="0">
                <a:solidFill>
                  <a:srgbClr val="141413"/>
                </a:solidFill>
                <a:latin typeface="Arial"/>
              </a:rPr>
              <a:t>If they have a personal budget, that wins.</a:t>
            </a:r>
          </a:p>
          <a:p>
            <a:pPr algn="l">
              <a:lnSpc>
                <a:spcPct val="112000"/>
              </a:lnSpc>
              <a:spcBef>
                <a:spcPts val="0"/>
              </a:spcBef>
              <a:spcAft>
                <a:spcPts val="0"/>
              </a:spcAft>
            </a:pPr>
            <a:r>
              <a:rPr sz="1150" b="0" i="0">
                <a:solidFill>
                  <a:srgbClr val="3D3D3A"/>
                </a:solidFill>
                <a:latin typeface="Arial"/>
              </a:rPr>
              <a:t>A limit set on an individual always takes precedence, which is exactly how you exempt or specially provision one person.</a:t>
            </a:r>
          </a:p>
        </p:txBody>
      </p:sp>
      <p:sp>
        <p:nvSpPr>
          <p:cNvPr id="7" name="TextBox 6"/>
          <p:cNvSpPr txBox="1"/>
          <p:nvPr/>
        </p:nvSpPr>
        <p:spPr>
          <a:xfrm>
            <a:off x="822960" y="3886200"/>
            <a:ext cx="6172200" cy="777240"/>
          </a:xfrm>
          <a:prstGeom prst="rect">
            <a:avLst/>
          </a:prstGeom>
          <a:noFill/>
        </p:spPr>
        <p:txBody>
          <a:bodyPr wrap="square" anchor="t" lIns="0" rIns="0" tIns="0" bIns="0">
            <a:spAutoFit/>
          </a:bodyPr>
          <a:lstStyle/>
          <a:p>
            <a:pPr algn="l">
              <a:spcBef>
                <a:spcPts val="0"/>
              </a:spcBef>
              <a:spcAft>
                <a:spcPts val="200"/>
              </a:spcAft>
            </a:pPr>
            <a:r>
              <a:rPr sz="1350" b="1" i="0">
                <a:solidFill>
                  <a:srgbClr val="141413"/>
                </a:solidFill>
                <a:latin typeface="Arial"/>
              </a:rPr>
              <a:t>Otherwise, their tightest team budget applies.</a:t>
            </a:r>
          </a:p>
          <a:p>
            <a:pPr algn="l">
              <a:lnSpc>
                <a:spcPct val="112000"/>
              </a:lnSpc>
              <a:spcBef>
                <a:spcPts val="0"/>
              </a:spcBef>
              <a:spcAft>
                <a:spcPts val="0"/>
              </a:spcAft>
            </a:pPr>
            <a:r>
              <a:rPr sz="1150" b="0" i="0">
                <a:solidFill>
                  <a:srgbClr val="3D3D3A"/>
                </a:solidFill>
                <a:latin typeface="Arial"/>
              </a:rPr>
              <a:t>When someone belongs to several teams, the gateway defaults to the most restrictive of those team budgets, and you can flip this to the most generous if you prefer.</a:t>
            </a:r>
          </a:p>
        </p:txBody>
      </p:sp>
      <p:sp>
        <p:nvSpPr>
          <p:cNvPr id="8" name="TextBox 7"/>
          <p:cNvSpPr txBox="1"/>
          <p:nvPr/>
        </p:nvSpPr>
        <p:spPr>
          <a:xfrm>
            <a:off x="822960" y="4709160"/>
            <a:ext cx="6172200" cy="777240"/>
          </a:xfrm>
          <a:prstGeom prst="rect">
            <a:avLst/>
          </a:prstGeom>
          <a:noFill/>
        </p:spPr>
        <p:txBody>
          <a:bodyPr wrap="square" anchor="t" lIns="0" rIns="0" tIns="0" bIns="0">
            <a:spAutoFit/>
          </a:bodyPr>
          <a:lstStyle/>
          <a:p>
            <a:pPr algn="l">
              <a:spcBef>
                <a:spcPts val="0"/>
              </a:spcBef>
              <a:spcAft>
                <a:spcPts val="200"/>
              </a:spcAft>
            </a:pPr>
            <a:r>
              <a:rPr sz="1350" b="1" i="0">
                <a:solidFill>
                  <a:srgbClr val="141413"/>
                </a:solidFill>
                <a:latin typeface="Arial"/>
              </a:rPr>
              <a:t>Failing that, the organization default applies.</a:t>
            </a:r>
          </a:p>
          <a:p>
            <a:pPr algn="l">
              <a:lnSpc>
                <a:spcPct val="112000"/>
              </a:lnSpc>
              <a:spcBef>
                <a:spcPts val="0"/>
              </a:spcBef>
              <a:spcAft>
                <a:spcPts val="0"/>
              </a:spcAft>
            </a:pPr>
            <a:r>
              <a:rPr sz="1150" b="0" i="0">
                <a:solidFill>
                  <a:srgbClr val="3D3D3A"/>
                </a:solidFill>
                <a:latin typeface="Arial"/>
              </a:rPr>
              <a:t>Everyone who matched nothing more specific inherits the company-wide ceiling.</a:t>
            </a:r>
          </a:p>
        </p:txBody>
      </p:sp>
      <p:sp>
        <p:nvSpPr>
          <p:cNvPr id="9" name="TextBox 8"/>
          <p:cNvSpPr txBox="1"/>
          <p:nvPr/>
        </p:nvSpPr>
        <p:spPr>
          <a:xfrm>
            <a:off x="822960" y="5532120"/>
            <a:ext cx="6172200" cy="777240"/>
          </a:xfrm>
          <a:prstGeom prst="rect">
            <a:avLst/>
          </a:prstGeom>
          <a:noFill/>
        </p:spPr>
        <p:txBody>
          <a:bodyPr wrap="square" anchor="t" lIns="0" rIns="0" tIns="0" bIns="0">
            <a:spAutoFit/>
          </a:bodyPr>
          <a:lstStyle/>
          <a:p>
            <a:pPr algn="l">
              <a:spcBef>
                <a:spcPts val="0"/>
              </a:spcBef>
              <a:spcAft>
                <a:spcPts val="200"/>
              </a:spcAft>
            </a:pPr>
            <a:r>
              <a:rPr sz="1350" b="1" i="0">
                <a:solidFill>
                  <a:srgbClr val="141413"/>
                </a:solidFill>
                <a:latin typeface="Arial"/>
              </a:rPr>
              <a:t>And if none of those exist, they are unlimited.</a:t>
            </a:r>
          </a:p>
          <a:p>
            <a:pPr algn="l">
              <a:lnSpc>
                <a:spcPct val="112000"/>
              </a:lnSpc>
              <a:spcBef>
                <a:spcPts val="0"/>
              </a:spcBef>
              <a:spcAft>
                <a:spcPts val="0"/>
              </a:spcAft>
            </a:pPr>
            <a:r>
              <a:rPr sz="1150" b="0" i="0">
                <a:solidFill>
                  <a:srgbClr val="3D3D3A"/>
                </a:solidFill>
                <a:latin typeface="Arial"/>
              </a:rPr>
              <a:t>No budget at any level simply means no cap is enforced for that person.</a:t>
            </a:r>
          </a:p>
        </p:txBody>
      </p:sp>
      <p:sp>
        <p:nvSpPr>
          <p:cNvPr id="10" name="Rounded Rectangle 9"/>
          <p:cNvSpPr/>
          <p:nvPr/>
        </p:nvSpPr>
        <p:spPr>
          <a:xfrm>
            <a:off x="7269480" y="1874519"/>
            <a:ext cx="4069080" cy="4160520"/>
          </a:xfrm>
          <a:prstGeom prst="roundRect">
            <a:avLst>
              <a:gd name="adj" fmla="val 6000"/>
            </a:avLst>
          </a:prstGeom>
          <a:solidFill>
            <a:srgbClr val="222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70648" y="2075687"/>
            <a:ext cx="3666744" cy="3822192"/>
          </a:xfrm>
          <a:prstGeom prst="rect">
            <a:avLst/>
          </a:prstGeom>
          <a:noFill/>
        </p:spPr>
        <p:txBody>
          <a:bodyPr wrap="square" anchor="t" lIns="0" rIns="0" tIns="0" bIns="0">
            <a:spAutoFit/>
          </a:bodyPr>
          <a:lstStyle/>
          <a:p>
            <a:pPr algn="l">
              <a:lnSpc>
                <a:spcPct val="105000"/>
              </a:lnSpc>
              <a:spcBef>
                <a:spcPts val="0"/>
              </a:spcBef>
              <a:spcAft>
                <a:spcPts val="200"/>
              </a:spcAft>
            </a:pPr>
            <a:r>
              <a:rPr sz="1150" b="0" i="0">
                <a:solidFill>
                  <a:srgbClr val="CC785C"/>
                </a:solidFill>
                <a:latin typeface="Courier New"/>
              </a:rPr>
              <a:t>A worked example</a:t>
            </a:r>
          </a:p>
          <a:p>
            <a:pPr algn="l">
              <a:lnSpc>
                <a:spcPct val="105000"/>
              </a:lnSpc>
              <a:spcBef>
                <a:spcPts val="0"/>
              </a:spcBef>
              <a:spcAft>
                <a:spcPts val="200"/>
              </a:spcAft>
            </a:pPr>
            <a:r>
              <a:rPr sz="1150" b="0" i="0">
                <a:solidFill>
                  <a:srgbClr val="E8E6DE"/>
                </a:solidFill>
                <a:latin typeface="Courier New"/>
              </a:rPr>
              <a:t> </a:t>
            </a:r>
          </a:p>
          <a:p>
            <a:pPr algn="l">
              <a:lnSpc>
                <a:spcPct val="105000"/>
              </a:lnSpc>
              <a:spcBef>
                <a:spcPts val="0"/>
              </a:spcBef>
              <a:spcAft>
                <a:spcPts val="200"/>
              </a:spcAft>
            </a:pPr>
            <a:r>
              <a:rPr sz="1150" b="0" i="0">
                <a:solidFill>
                  <a:srgbClr val="E8E6DE"/>
                </a:solidFill>
                <a:latin typeface="Courier New"/>
              </a:rPr>
              <a:t>The organization sets a</a:t>
            </a:r>
          </a:p>
          <a:p>
            <a:pPr algn="l">
              <a:lnSpc>
                <a:spcPct val="105000"/>
              </a:lnSpc>
              <a:spcBef>
                <a:spcPts val="0"/>
              </a:spcBef>
              <a:spcAft>
                <a:spcPts val="200"/>
              </a:spcAft>
            </a:pPr>
            <a:r>
              <a:rPr sz="1150" b="0" i="0">
                <a:solidFill>
                  <a:srgbClr val="E8E6DE"/>
                </a:solidFill>
                <a:latin typeface="Courier New"/>
              </a:rPr>
              <a:t>$20 daily default, and the</a:t>
            </a:r>
          </a:p>
          <a:p>
            <a:pPr algn="l">
              <a:lnSpc>
                <a:spcPct val="105000"/>
              </a:lnSpc>
              <a:spcBef>
                <a:spcPts val="0"/>
              </a:spcBef>
              <a:spcAft>
                <a:spcPts val="200"/>
              </a:spcAft>
            </a:pPr>
            <a:r>
              <a:rPr sz="1150" b="0" i="0">
                <a:solidFill>
                  <a:srgbClr val="E8E6DE"/>
                </a:solidFill>
                <a:latin typeface="Courier New"/>
              </a:rPr>
              <a:t>contractors team is given a</a:t>
            </a:r>
          </a:p>
          <a:p>
            <a:pPr algn="l">
              <a:lnSpc>
                <a:spcPct val="105000"/>
              </a:lnSpc>
              <a:spcBef>
                <a:spcPts val="0"/>
              </a:spcBef>
              <a:spcAft>
                <a:spcPts val="200"/>
              </a:spcAft>
            </a:pPr>
            <a:r>
              <a:rPr sz="1150" b="0" i="0">
                <a:solidFill>
                  <a:srgbClr val="E8E6DE"/>
                </a:solidFill>
                <a:latin typeface="Courier New"/>
              </a:rPr>
              <a:t>tighter $5 daily budget.</a:t>
            </a:r>
          </a:p>
          <a:p>
            <a:pPr algn="l">
              <a:lnSpc>
                <a:spcPct val="105000"/>
              </a:lnSpc>
              <a:spcBef>
                <a:spcPts val="0"/>
              </a:spcBef>
              <a:spcAft>
                <a:spcPts val="200"/>
              </a:spcAft>
            </a:pPr>
            <a:r>
              <a:rPr sz="1150" b="0" i="0">
                <a:solidFill>
                  <a:srgbClr val="E8E6DE"/>
                </a:solidFill>
                <a:latin typeface="Courier New"/>
              </a:rPr>
              <a:t> </a:t>
            </a:r>
          </a:p>
          <a:p>
            <a:pPr algn="l">
              <a:lnSpc>
                <a:spcPct val="105000"/>
              </a:lnSpc>
              <a:spcBef>
                <a:spcPts val="0"/>
              </a:spcBef>
              <a:spcAft>
                <a:spcPts val="200"/>
              </a:spcAft>
            </a:pPr>
            <a:r>
              <a:rPr sz="1150" b="0" i="0">
                <a:solidFill>
                  <a:srgbClr val="E8E6DE"/>
                </a:solidFill>
                <a:latin typeface="Courier New"/>
              </a:rPr>
              <a:t>For that period the more</a:t>
            </a:r>
          </a:p>
          <a:p>
            <a:pPr algn="l">
              <a:lnSpc>
                <a:spcPct val="105000"/>
              </a:lnSpc>
              <a:spcBef>
                <a:spcPts val="0"/>
              </a:spcBef>
              <a:spcAft>
                <a:spcPts val="200"/>
              </a:spcAft>
            </a:pPr>
            <a:r>
              <a:rPr sz="1150" b="0" i="0">
                <a:solidFill>
                  <a:srgbClr val="E8E6DE"/>
                </a:solidFill>
                <a:latin typeface="Courier New"/>
              </a:rPr>
              <a:t>restrictive team budget is</a:t>
            </a:r>
          </a:p>
          <a:p>
            <a:pPr algn="l">
              <a:lnSpc>
                <a:spcPct val="105000"/>
              </a:lnSpc>
              <a:spcBef>
                <a:spcPts val="0"/>
              </a:spcBef>
              <a:spcAft>
                <a:spcPts val="200"/>
              </a:spcAft>
            </a:pPr>
            <a:r>
              <a:rPr sz="1150" b="0" i="0">
                <a:solidFill>
                  <a:srgbClr val="E8E6DE"/>
                </a:solidFill>
                <a:latin typeface="Courier New"/>
              </a:rPr>
              <a:t>the one that governs, so a</a:t>
            </a:r>
          </a:p>
          <a:p>
            <a:pPr algn="l">
              <a:lnSpc>
                <a:spcPct val="105000"/>
              </a:lnSpc>
              <a:spcBef>
                <a:spcPts val="0"/>
              </a:spcBef>
              <a:spcAft>
                <a:spcPts val="200"/>
              </a:spcAft>
            </a:pPr>
            <a:r>
              <a:rPr sz="1150" b="0" i="0">
                <a:solidFill>
                  <a:srgbClr val="E8E6DE"/>
                </a:solidFill>
                <a:latin typeface="Courier New"/>
              </a:rPr>
              <a:t>contractor is held to $5 a</a:t>
            </a:r>
          </a:p>
          <a:p>
            <a:pPr algn="l">
              <a:lnSpc>
                <a:spcPct val="105000"/>
              </a:lnSpc>
              <a:spcBef>
                <a:spcPts val="0"/>
              </a:spcBef>
              <a:spcAft>
                <a:spcPts val="200"/>
              </a:spcAft>
            </a:pPr>
            <a:r>
              <a:rPr sz="1150" b="0" i="0">
                <a:solidFill>
                  <a:srgbClr val="737069"/>
                </a:solidFill>
                <a:latin typeface="Courier New"/>
              </a:rPr>
              <a:t>day, not the $20 default.</a:t>
            </a:r>
          </a:p>
        </p:txBody>
      </p:sp>
      <p:sp>
        <p:nvSpPr>
          <p:cNvPr id="12" name="Rectangle 11"/>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4" name="TextBox 13"/>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628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628C9E"/>
                </a:solidFill>
                <a:latin typeface="Arial"/>
              </a:rPr>
              <a:t>PILLAR 02 · ACCESS CONTROL</a:t>
            </a:r>
          </a:p>
        </p:txBody>
      </p:sp>
      <p:sp>
        <p:nvSpPr>
          <p:cNvPr id="5" name="TextBox 4"/>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The right models and tools for each team</a:t>
            </a:r>
          </a:p>
        </p:txBody>
      </p:sp>
      <p:sp>
        <p:nvSpPr>
          <p:cNvPr id="6" name="TextBox 5"/>
          <p:cNvSpPr txBox="1"/>
          <p:nvPr/>
        </p:nvSpPr>
        <p:spPr>
          <a:xfrm>
            <a:off x="822960" y="2011680"/>
            <a:ext cx="6309360" cy="3840480"/>
          </a:xfrm>
          <a:prstGeom prst="rect">
            <a:avLst/>
          </a:prstGeom>
          <a:noFill/>
        </p:spPr>
        <p:txBody>
          <a:bodyPr wrap="square" anchor="t" lIns="0" rIns="0" tIns="0" bIns="0">
            <a:spAutoFit/>
          </a:bodyPr>
          <a:lstStyle/>
          <a:p>
            <a:pPr algn="l">
              <a:lnSpc>
                <a:spcPct val="108000"/>
              </a:lnSpc>
              <a:spcAft>
                <a:spcPts val="1700"/>
              </a:spcAft>
            </a:pPr>
            <a:r>
              <a:rPr sz="1550" b="1" i="0">
                <a:solidFill>
                  <a:srgbClr val="CC785C"/>
                </a:solidFill>
                <a:latin typeface="Arial"/>
              </a:rPr>
              <a:t>—  </a:t>
            </a:r>
            <a:r>
              <a:rPr sz="1550" b="1" i="0">
                <a:solidFill>
                  <a:srgbClr val="141413"/>
                </a:solidFill>
                <a:latin typeface="Arial"/>
              </a:rPr>
              <a:t>Policy follows the team, not the person. </a:t>
            </a:r>
            <a:r>
              <a:rPr sz="1550" b="0" i="0">
                <a:solidFill>
                  <a:srgbClr val="3D3D3A"/>
                </a:solidFill>
                <a:latin typeface="Arial"/>
              </a:rPr>
              <a:t>You attach rules to the groups your identity provider already manages, so a new contractor picks up the contractor policy from their group membership at sign-in — there is no per-person setup to maintain.</a:t>
            </a:r>
          </a:p>
          <a:p>
            <a:pPr algn="l">
              <a:lnSpc>
                <a:spcPct val="108000"/>
              </a:lnSpc>
              <a:spcAft>
                <a:spcPts val="1700"/>
              </a:spcAft>
            </a:pPr>
            <a:r>
              <a:rPr sz="1550" b="1" i="0">
                <a:solidFill>
                  <a:srgbClr val="CC785C"/>
                </a:solidFill>
                <a:latin typeface="Arial"/>
              </a:rPr>
              <a:t>—  </a:t>
            </a:r>
            <a:r>
              <a:rPr sz="1550" b="1" i="0">
                <a:solidFill>
                  <a:srgbClr val="141413"/>
                </a:solidFill>
                <a:latin typeface="Arial"/>
              </a:rPr>
              <a:t>The limit is enforced, not merely suggested. </a:t>
            </a:r>
            <a:r>
              <a:rPr sz="1550" b="0" i="0">
                <a:solidFill>
                  <a:srgbClr val="3D3D3A"/>
                </a:solidFill>
                <a:latin typeface="Arial"/>
              </a:rPr>
              <a:t>When a policy withholds a model, the gateway rejects any request for it outright, so a modified or scripted client cannot reach around the interface to use it anyway.</a:t>
            </a:r>
          </a:p>
          <a:p>
            <a:pPr algn="l">
              <a:lnSpc>
                <a:spcPct val="108000"/>
              </a:lnSpc>
              <a:spcAft>
                <a:spcPts val="1700"/>
              </a:spcAft>
            </a:pPr>
            <a:r>
              <a:rPr sz="1550" b="1" i="0">
                <a:solidFill>
                  <a:srgbClr val="CC785C"/>
                </a:solidFill>
                <a:latin typeface="Arial"/>
              </a:rPr>
              <a:t>—  </a:t>
            </a:r>
            <a:r>
              <a:rPr sz="1550" b="1" i="0">
                <a:solidFill>
                  <a:srgbClr val="141413"/>
                </a:solidFill>
                <a:latin typeface="Arial"/>
              </a:rPr>
              <a:t>Tools are governed the same way. </a:t>
            </a:r>
            <a:r>
              <a:rPr sz="1550" b="0" i="0">
                <a:solidFill>
                  <a:srgbClr val="3D3D3A"/>
                </a:solidFill>
                <a:latin typeface="Arial"/>
              </a:rPr>
              <a:t>You can withhold a risky tool from one group while leaving their choice of models completely intact, matching capability to trust.</a:t>
            </a:r>
          </a:p>
        </p:txBody>
      </p:sp>
      <p:sp>
        <p:nvSpPr>
          <p:cNvPr id="7" name="Rounded Rectangle 6"/>
          <p:cNvSpPr/>
          <p:nvPr/>
        </p:nvSpPr>
        <p:spPr>
          <a:xfrm>
            <a:off x="7452360" y="2103120"/>
            <a:ext cx="3886200" cy="338328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26679" y="2331720"/>
            <a:ext cx="3383280" cy="3017520"/>
          </a:xfrm>
          <a:prstGeom prst="rect">
            <a:avLst/>
          </a:prstGeom>
          <a:noFill/>
        </p:spPr>
        <p:txBody>
          <a:bodyPr wrap="square" anchor="t" lIns="0" rIns="0" tIns="0" bIns="0">
            <a:spAutoFit/>
          </a:bodyPr>
          <a:lstStyle/>
          <a:p>
            <a:pPr algn="l">
              <a:spcBef>
                <a:spcPts val="0"/>
              </a:spcBef>
              <a:spcAft>
                <a:spcPts val="1200"/>
              </a:spcAft>
            </a:pPr>
            <a:r>
              <a:rPr sz="1400" b="1" i="0">
                <a:solidFill>
                  <a:srgbClr val="141413"/>
                </a:solidFill>
                <a:latin typeface="Georgia"/>
              </a:rPr>
              <a:t>One policy per team</a:t>
            </a:r>
          </a:p>
          <a:p>
            <a:pPr algn="l">
              <a:spcBef>
                <a:spcPts val="800"/>
              </a:spcBef>
              <a:spcAft>
                <a:spcPts val="100"/>
              </a:spcAft>
            </a:pPr>
            <a:r>
              <a:rPr sz="1300" b="1" i="0">
                <a:solidFill>
                  <a:srgbClr val="8A9A5B"/>
                </a:solidFill>
                <a:latin typeface="Arial"/>
              </a:rPr>
              <a:t>Core engineering</a:t>
            </a:r>
          </a:p>
          <a:p>
            <a:pPr algn="l">
              <a:lnSpc>
                <a:spcPct val="110000"/>
              </a:lnSpc>
              <a:spcBef>
                <a:spcPts val="0"/>
              </a:spcBef>
              <a:spcAft>
                <a:spcPts val="0"/>
              </a:spcAft>
            </a:pPr>
            <a:r>
              <a:rPr sz="1150" b="0" i="0">
                <a:solidFill>
                  <a:srgbClr val="3D3D3A"/>
                </a:solidFill>
                <a:latin typeface="Arial"/>
              </a:rPr>
              <a:t>Every model, every tool</a:t>
            </a:r>
          </a:p>
          <a:p>
            <a:pPr algn="l">
              <a:spcBef>
                <a:spcPts val="800"/>
              </a:spcBef>
              <a:spcAft>
                <a:spcPts val="100"/>
              </a:spcAft>
            </a:pPr>
            <a:r>
              <a:rPr sz="1300" b="1" i="0">
                <a:solidFill>
                  <a:srgbClr val="628C9E"/>
                </a:solidFill>
                <a:latin typeface="Arial"/>
              </a:rPr>
              <a:t>Data science</a:t>
            </a:r>
          </a:p>
          <a:p>
            <a:pPr algn="l">
              <a:lnSpc>
                <a:spcPct val="110000"/>
              </a:lnSpc>
              <a:spcBef>
                <a:spcPts val="0"/>
              </a:spcBef>
              <a:spcAft>
                <a:spcPts val="0"/>
              </a:spcAft>
            </a:pPr>
            <a:r>
              <a:rPr sz="1150" b="0" i="0">
                <a:solidFill>
                  <a:srgbClr val="3D3D3A"/>
                </a:solidFill>
                <a:latin typeface="Arial"/>
              </a:rPr>
              <a:t>Opus and Sonnet, no shell access</a:t>
            </a:r>
          </a:p>
          <a:p>
            <a:pPr algn="l">
              <a:spcBef>
                <a:spcPts val="800"/>
              </a:spcBef>
              <a:spcAft>
                <a:spcPts val="100"/>
              </a:spcAft>
            </a:pPr>
            <a:r>
              <a:rPr sz="1300" b="1" i="0">
                <a:solidFill>
                  <a:srgbClr val="CC785C"/>
                </a:solidFill>
                <a:latin typeface="Arial"/>
              </a:rPr>
              <a:t>Contractors</a:t>
            </a:r>
          </a:p>
          <a:p>
            <a:pPr algn="l">
              <a:lnSpc>
                <a:spcPct val="110000"/>
              </a:lnSpc>
              <a:spcBef>
                <a:spcPts val="0"/>
              </a:spcBef>
              <a:spcAft>
                <a:spcPts val="0"/>
              </a:spcAft>
            </a:pPr>
            <a:r>
              <a:rPr sz="1150" b="0" i="0">
                <a:solidFill>
                  <a:srgbClr val="3D3D3A"/>
                </a:solidFill>
                <a:latin typeface="Arial"/>
              </a:rPr>
              <a:t>Sonnet only, web fetch withheld</a:t>
            </a:r>
          </a:p>
        </p:txBody>
      </p:sp>
      <p:sp>
        <p:nvSpPr>
          <p:cNvPr id="9" name="Rectangle 8"/>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1" name="TextBox 10"/>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628C9E"/>
                </a:solidFill>
                <a:latin typeface="Arial"/>
              </a:rPr>
              <a:t>PILLAR 02 · ACCESS CONTROL</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Policies are plain config, first match wins</a:t>
            </a:r>
          </a:p>
        </p:txBody>
      </p:sp>
      <p:sp>
        <p:nvSpPr>
          <p:cNvPr id="5" name="Rounded Rectangle 4"/>
          <p:cNvSpPr/>
          <p:nvPr/>
        </p:nvSpPr>
        <p:spPr>
          <a:xfrm>
            <a:off x="822960" y="1783080"/>
            <a:ext cx="5943600" cy="4251960"/>
          </a:xfrm>
          <a:prstGeom prst="roundRect">
            <a:avLst>
              <a:gd name="adj" fmla="val 6000"/>
            </a:avLst>
          </a:prstGeom>
          <a:solidFill>
            <a:srgbClr val="222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24128" y="1892808"/>
            <a:ext cx="5541264" cy="274320"/>
          </a:xfrm>
          <a:prstGeom prst="rect">
            <a:avLst/>
          </a:prstGeom>
          <a:noFill/>
        </p:spPr>
        <p:txBody>
          <a:bodyPr wrap="square" anchor="t" lIns="0" rIns="0" tIns="0" bIns="0">
            <a:spAutoFit/>
          </a:bodyPr>
          <a:lstStyle/>
          <a:p>
            <a:pPr algn="l">
              <a:spcBef>
                <a:spcPts val="0"/>
              </a:spcBef>
              <a:spcAft>
                <a:spcPts val="0"/>
              </a:spcAft>
            </a:pPr>
            <a:r>
              <a:rPr sz="1000" b="1" i="0">
                <a:solidFill>
                  <a:srgbClr val="CC785C"/>
                </a:solidFill>
                <a:latin typeface="Arial"/>
              </a:rPr>
              <a:t>gateway.yaml</a:t>
            </a:r>
          </a:p>
        </p:txBody>
      </p:sp>
      <p:sp>
        <p:nvSpPr>
          <p:cNvPr id="7" name="TextBox 6"/>
          <p:cNvSpPr txBox="1"/>
          <p:nvPr/>
        </p:nvSpPr>
        <p:spPr>
          <a:xfrm>
            <a:off x="1024128" y="2240280"/>
            <a:ext cx="5541264" cy="3657600"/>
          </a:xfrm>
          <a:prstGeom prst="rect">
            <a:avLst/>
          </a:prstGeom>
          <a:noFill/>
        </p:spPr>
        <p:txBody>
          <a:bodyPr wrap="square" anchor="t" lIns="0" rIns="0" tIns="0" bIns="0">
            <a:spAutoFit/>
          </a:bodyPr>
          <a:lstStyle/>
          <a:p>
            <a:pPr algn="l">
              <a:lnSpc>
                <a:spcPct val="105000"/>
              </a:lnSpc>
              <a:spcBef>
                <a:spcPts val="0"/>
              </a:spcBef>
              <a:spcAft>
                <a:spcPts val="200"/>
              </a:spcAft>
            </a:pPr>
            <a:r>
              <a:rPr sz="1150" b="0" i="0">
                <a:solidFill>
                  <a:srgbClr val="E8E6DE"/>
                </a:solidFill>
                <a:latin typeface="Courier New"/>
              </a:rPr>
              <a:t>managed:</a:t>
            </a:r>
          </a:p>
          <a:p>
            <a:pPr algn="l">
              <a:lnSpc>
                <a:spcPct val="105000"/>
              </a:lnSpc>
              <a:spcBef>
                <a:spcPts val="0"/>
              </a:spcBef>
              <a:spcAft>
                <a:spcPts val="200"/>
              </a:spcAft>
            </a:pPr>
            <a:r>
              <a:rPr sz="1150" b="0" i="0">
                <a:solidFill>
                  <a:srgbClr val="E8E6DE"/>
                </a:solidFill>
                <a:latin typeface="Courier New"/>
              </a:rPr>
              <a:t>  policies:</a:t>
            </a:r>
          </a:p>
          <a:p>
            <a:pPr algn="l">
              <a:lnSpc>
                <a:spcPct val="105000"/>
              </a:lnSpc>
              <a:spcBef>
                <a:spcPts val="0"/>
              </a:spcBef>
              <a:spcAft>
                <a:spcPts val="200"/>
              </a:spcAft>
            </a:pPr>
            <a:r>
              <a:rPr sz="1150" b="0" i="0">
                <a:solidFill>
                  <a:srgbClr val="737069"/>
                </a:solidFill>
                <a:latin typeface="Courier New"/>
              </a:rPr>
              <a:t>    # specific groups first</a:t>
            </a:r>
          </a:p>
          <a:p>
            <a:pPr algn="l">
              <a:lnSpc>
                <a:spcPct val="105000"/>
              </a:lnSpc>
              <a:spcBef>
                <a:spcPts val="0"/>
              </a:spcBef>
              <a:spcAft>
                <a:spcPts val="200"/>
              </a:spcAft>
            </a:pPr>
            <a:r>
              <a:rPr sz="1150" b="0" i="0">
                <a:solidFill>
                  <a:srgbClr val="628C9E"/>
                </a:solidFill>
                <a:latin typeface="Courier New"/>
              </a:rPr>
              <a:t>    - match: {groups: [contractors]}</a:t>
            </a:r>
          </a:p>
          <a:p>
            <a:pPr algn="l">
              <a:lnSpc>
                <a:spcPct val="105000"/>
              </a:lnSpc>
              <a:spcBef>
                <a:spcPts val="0"/>
              </a:spcBef>
              <a:spcAft>
                <a:spcPts val="200"/>
              </a:spcAft>
            </a:pPr>
            <a:r>
              <a:rPr sz="1150" b="0" i="0">
                <a:solidFill>
                  <a:srgbClr val="E8E6DE"/>
                </a:solidFill>
                <a:latin typeface="Courier New"/>
              </a:rPr>
              <a:t>      cli:</a:t>
            </a:r>
          </a:p>
          <a:p>
            <a:pPr algn="l">
              <a:lnSpc>
                <a:spcPct val="105000"/>
              </a:lnSpc>
              <a:spcBef>
                <a:spcPts val="0"/>
              </a:spcBef>
              <a:spcAft>
                <a:spcPts val="200"/>
              </a:spcAft>
            </a:pPr>
            <a:r>
              <a:rPr sz="1150" b="0" i="0">
                <a:solidFill>
                  <a:srgbClr val="E8E6DE"/>
                </a:solidFill>
                <a:latin typeface="Courier New"/>
              </a:rPr>
              <a:t>        availableModels:</a:t>
            </a:r>
          </a:p>
          <a:p>
            <a:pPr algn="l">
              <a:lnSpc>
                <a:spcPct val="105000"/>
              </a:lnSpc>
              <a:spcBef>
                <a:spcPts val="0"/>
              </a:spcBef>
              <a:spcAft>
                <a:spcPts val="200"/>
              </a:spcAft>
            </a:pPr>
            <a:r>
              <a:rPr sz="1150" b="0" i="0">
                <a:solidFill>
                  <a:srgbClr val="E8E6DE"/>
                </a:solidFill>
                <a:latin typeface="Courier New"/>
              </a:rPr>
              <a:t>          [claude-sonnet-4-6]</a:t>
            </a:r>
          </a:p>
          <a:p>
            <a:pPr algn="l">
              <a:lnSpc>
                <a:spcPct val="105000"/>
              </a:lnSpc>
              <a:spcBef>
                <a:spcPts val="0"/>
              </a:spcBef>
              <a:spcAft>
                <a:spcPts val="200"/>
              </a:spcAft>
            </a:pPr>
            <a:r>
              <a:rPr sz="1150" b="0" i="0">
                <a:solidFill>
                  <a:srgbClr val="E8E6DE"/>
                </a:solidFill>
                <a:latin typeface="Courier New"/>
              </a:rPr>
              <a:t>        permissions:</a:t>
            </a:r>
          </a:p>
          <a:p>
            <a:pPr algn="l">
              <a:lnSpc>
                <a:spcPct val="105000"/>
              </a:lnSpc>
              <a:spcBef>
                <a:spcPts val="0"/>
              </a:spcBef>
              <a:spcAft>
                <a:spcPts val="200"/>
              </a:spcAft>
            </a:pPr>
            <a:r>
              <a:rPr sz="1150" b="0" i="0">
                <a:solidFill>
                  <a:srgbClr val="CC785C"/>
                </a:solidFill>
                <a:latin typeface="Courier New"/>
              </a:rPr>
              <a:t>          deny: ["WebFetch"]</a:t>
            </a:r>
          </a:p>
          <a:p>
            <a:pPr algn="l">
              <a:lnSpc>
                <a:spcPct val="105000"/>
              </a:lnSpc>
              <a:spcBef>
                <a:spcPts val="0"/>
              </a:spcBef>
              <a:spcAft>
                <a:spcPts val="200"/>
              </a:spcAft>
            </a:pPr>
            <a:r>
              <a:rPr sz="1150" b="0" i="0">
                <a:solidFill>
                  <a:srgbClr val="737069"/>
                </a:solidFill>
                <a:latin typeface="Courier New"/>
              </a:rPr>
              <a:t>    # catch-all base, last</a:t>
            </a:r>
          </a:p>
          <a:p>
            <a:pPr algn="l">
              <a:lnSpc>
                <a:spcPct val="105000"/>
              </a:lnSpc>
              <a:spcBef>
                <a:spcPts val="0"/>
              </a:spcBef>
              <a:spcAft>
                <a:spcPts val="200"/>
              </a:spcAft>
            </a:pPr>
            <a:r>
              <a:rPr sz="1150" b="0" i="0">
                <a:solidFill>
                  <a:srgbClr val="8A9A5B"/>
                </a:solidFill>
                <a:latin typeface="Courier New"/>
              </a:rPr>
              <a:t>    - match: {}</a:t>
            </a:r>
          </a:p>
          <a:p>
            <a:pPr algn="l">
              <a:lnSpc>
                <a:spcPct val="105000"/>
              </a:lnSpc>
              <a:spcBef>
                <a:spcPts val="0"/>
              </a:spcBef>
              <a:spcAft>
                <a:spcPts val="200"/>
              </a:spcAft>
            </a:pPr>
            <a:r>
              <a:rPr sz="1150" b="0" i="0">
                <a:solidFill>
                  <a:srgbClr val="E8E6DE"/>
                </a:solidFill>
                <a:latin typeface="Courier New"/>
              </a:rPr>
              <a:t>      cli:</a:t>
            </a:r>
          </a:p>
          <a:p>
            <a:pPr algn="l">
              <a:lnSpc>
                <a:spcPct val="105000"/>
              </a:lnSpc>
              <a:spcBef>
                <a:spcPts val="0"/>
              </a:spcBef>
              <a:spcAft>
                <a:spcPts val="200"/>
              </a:spcAft>
            </a:pPr>
            <a:r>
              <a:rPr sz="1150" b="0" i="0">
                <a:solidFill>
                  <a:srgbClr val="E8E6DE"/>
                </a:solidFill>
                <a:latin typeface="Courier New"/>
              </a:rPr>
              <a:t>        availableModels:</a:t>
            </a:r>
          </a:p>
          <a:p>
            <a:pPr algn="l">
              <a:lnSpc>
                <a:spcPct val="105000"/>
              </a:lnSpc>
              <a:spcBef>
                <a:spcPts val="0"/>
              </a:spcBef>
              <a:spcAft>
                <a:spcPts val="200"/>
              </a:spcAft>
            </a:pPr>
            <a:r>
              <a:rPr sz="1150" b="0" i="0">
                <a:solidFill>
                  <a:srgbClr val="E8E6DE"/>
                </a:solidFill>
                <a:latin typeface="Courier New"/>
              </a:rPr>
              <a:t>          [claude-opus-4-8,</a:t>
            </a:r>
          </a:p>
          <a:p>
            <a:pPr algn="l">
              <a:lnSpc>
                <a:spcPct val="105000"/>
              </a:lnSpc>
              <a:spcBef>
                <a:spcPts val="0"/>
              </a:spcBef>
              <a:spcAft>
                <a:spcPts val="200"/>
              </a:spcAft>
            </a:pPr>
            <a:r>
              <a:rPr sz="1150" b="0" i="0">
                <a:solidFill>
                  <a:srgbClr val="E8E6DE"/>
                </a:solidFill>
                <a:latin typeface="Courier New"/>
              </a:rPr>
              <a:t>           claude-sonnet-4-6,</a:t>
            </a:r>
          </a:p>
          <a:p>
            <a:pPr algn="l">
              <a:lnSpc>
                <a:spcPct val="105000"/>
              </a:lnSpc>
              <a:spcBef>
                <a:spcPts val="0"/>
              </a:spcBef>
              <a:spcAft>
                <a:spcPts val="200"/>
              </a:spcAft>
            </a:pPr>
            <a:r>
              <a:rPr sz="1150" b="0" i="0">
                <a:solidFill>
                  <a:srgbClr val="E8E6DE"/>
                </a:solidFill>
                <a:latin typeface="Courier New"/>
              </a:rPr>
              <a:t>           claude-haiku-4-5]</a:t>
            </a:r>
          </a:p>
        </p:txBody>
      </p:sp>
      <p:sp>
        <p:nvSpPr>
          <p:cNvPr id="8" name="TextBox 7"/>
          <p:cNvSpPr txBox="1"/>
          <p:nvPr/>
        </p:nvSpPr>
        <p:spPr>
          <a:xfrm>
            <a:off x="7040880" y="1874519"/>
            <a:ext cx="4343400" cy="4114800"/>
          </a:xfrm>
          <a:prstGeom prst="rect">
            <a:avLst/>
          </a:prstGeom>
          <a:noFill/>
        </p:spPr>
        <p:txBody>
          <a:bodyPr wrap="square" anchor="t" lIns="0" rIns="0" tIns="0" bIns="0">
            <a:spAutoFit/>
          </a:bodyPr>
          <a:lstStyle/>
          <a:p>
            <a:pPr algn="l">
              <a:lnSpc>
                <a:spcPct val="108000"/>
              </a:lnSpc>
              <a:spcAft>
                <a:spcPts val="1500"/>
              </a:spcAft>
            </a:pPr>
            <a:r>
              <a:rPr sz="1350" b="1" i="0">
                <a:solidFill>
                  <a:srgbClr val="628C9E"/>
                </a:solidFill>
                <a:latin typeface="Arial"/>
              </a:rPr>
              <a:t>—  </a:t>
            </a:r>
            <a:r>
              <a:rPr sz="1350" b="1" i="0">
                <a:solidFill>
                  <a:srgbClr val="141413"/>
                </a:solidFill>
                <a:latin typeface="Arial"/>
              </a:rPr>
              <a:t>The empty match is your baseline. </a:t>
            </a:r>
            <a:r>
              <a:rPr sz="1350" b="0" i="0">
                <a:solidFill>
                  <a:srgbClr val="3D3D3A"/>
                </a:solidFill>
                <a:latin typeface="Arial"/>
              </a:rPr>
              <a:t>It applies to everyone, and each group's policy only needs to state what it changes from that baseline.</a:t>
            </a:r>
          </a:p>
          <a:p>
            <a:pPr algn="l">
              <a:lnSpc>
                <a:spcPct val="108000"/>
              </a:lnSpc>
              <a:spcAft>
                <a:spcPts val="1500"/>
              </a:spcAft>
            </a:pPr>
            <a:r>
              <a:rPr sz="1350" b="1" i="0">
                <a:solidFill>
                  <a:srgbClr val="628C9E"/>
                </a:solidFill>
                <a:latin typeface="Arial"/>
              </a:rPr>
              <a:t>—  </a:t>
            </a:r>
            <a:r>
              <a:rPr sz="1350" b="1" i="0">
                <a:solidFill>
                  <a:srgbClr val="141413"/>
                </a:solidFill>
                <a:latin typeface="Arial"/>
              </a:rPr>
              <a:t>Org-wide restrictions cannot be lost. </a:t>
            </a:r>
            <a:r>
              <a:rPr sz="1350" b="0" i="0">
                <a:solidFill>
                  <a:srgbClr val="3D3D3A"/>
                </a:solidFill>
                <a:latin typeface="Arial"/>
              </a:rPr>
              <a:t>A denial or audit rule set for the whole organization is always combined with a group's own rules, so a team policy can add restrictions but never quietly drop one the organization requires.</a:t>
            </a:r>
          </a:p>
          <a:p>
            <a:pPr algn="l">
              <a:lnSpc>
                <a:spcPct val="108000"/>
              </a:lnSpc>
              <a:spcAft>
                <a:spcPts val="1500"/>
              </a:spcAft>
            </a:pPr>
            <a:r>
              <a:rPr sz="1350" b="1" i="0">
                <a:solidFill>
                  <a:srgbClr val="628C9E"/>
                </a:solidFill>
                <a:latin typeface="Arial"/>
              </a:rPr>
              <a:t>—  </a:t>
            </a:r>
            <a:r>
              <a:rPr sz="1350" b="1" i="0">
                <a:solidFill>
                  <a:srgbClr val="141413"/>
                </a:solidFill>
                <a:latin typeface="Arial"/>
              </a:rPr>
              <a:t>Changes reach clients on their own. </a:t>
            </a:r>
            <a:r>
              <a:rPr sz="1350" b="0" i="0">
                <a:solidFill>
                  <a:srgbClr val="3D3D3A"/>
                </a:solidFill>
                <a:latin typeface="Arial"/>
              </a:rPr>
              <a:t>After you update a policy and redeploy, signed-in clients adopt it at their next hourly check, and a change of team membership takes effect the next time the developer signs in.</a:t>
            </a:r>
          </a:p>
        </p:txBody>
      </p:sp>
      <p:sp>
        <p:nvSpPr>
          <p:cNvPr id="9" name="Rectangle 8"/>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1" name="TextBox 10"/>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8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8A9A5B"/>
                </a:solidFill>
                <a:latin typeface="Arial"/>
              </a:rPr>
              <a:t>PILLAR 03 · VISIBILITY</a:t>
            </a:r>
          </a:p>
        </p:txBody>
      </p:sp>
      <p:sp>
        <p:nvSpPr>
          <p:cNvPr id="5" name="TextBox 4"/>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Know who spent what — and what they did</a:t>
            </a:r>
          </a:p>
        </p:txBody>
      </p:sp>
      <p:sp>
        <p:nvSpPr>
          <p:cNvPr id="6" name="TextBox 5"/>
          <p:cNvSpPr txBox="1"/>
          <p:nvPr/>
        </p:nvSpPr>
        <p:spPr>
          <a:xfrm>
            <a:off x="822960" y="2011680"/>
            <a:ext cx="6126480" cy="3840480"/>
          </a:xfrm>
          <a:prstGeom prst="rect">
            <a:avLst/>
          </a:prstGeom>
          <a:noFill/>
        </p:spPr>
        <p:txBody>
          <a:bodyPr wrap="square" anchor="t" lIns="0" rIns="0" tIns="0" bIns="0">
            <a:spAutoFit/>
          </a:bodyPr>
          <a:lstStyle/>
          <a:p>
            <a:pPr algn="l">
              <a:lnSpc>
                <a:spcPct val="108000"/>
              </a:lnSpc>
              <a:spcAft>
                <a:spcPts val="1700"/>
              </a:spcAft>
            </a:pPr>
            <a:r>
              <a:rPr sz="1450" b="1" i="0">
                <a:solidFill>
                  <a:srgbClr val="CC785C"/>
                </a:solidFill>
                <a:latin typeface="Arial"/>
              </a:rPr>
              <a:t>—  </a:t>
            </a:r>
            <a:r>
              <a:rPr sz="1450" b="1" i="0">
                <a:solidFill>
                  <a:srgbClr val="141413"/>
                </a:solidFill>
                <a:latin typeface="Arial"/>
              </a:rPr>
              <a:t>Every number carries a name. </a:t>
            </a:r>
            <a:r>
              <a:rPr sz="1450" b="0" i="0">
                <a:solidFill>
                  <a:srgbClr val="3D3D3A"/>
                </a:solidFill>
                <a:latin typeface="Arial"/>
              </a:rPr>
              <a:t>The developer's identity travels with each metric as an attribute, so cost and activity attribute to a person and a team without anyone configuring anything.</a:t>
            </a:r>
          </a:p>
          <a:p>
            <a:pPr algn="l">
              <a:lnSpc>
                <a:spcPct val="108000"/>
              </a:lnSpc>
              <a:spcAft>
                <a:spcPts val="1700"/>
              </a:spcAft>
            </a:pPr>
            <a:r>
              <a:rPr sz="1450" b="1" i="0">
                <a:solidFill>
                  <a:srgbClr val="CC785C"/>
                </a:solidFill>
                <a:latin typeface="Arial"/>
              </a:rPr>
              <a:t>—  </a:t>
            </a:r>
            <a:r>
              <a:rPr sz="1450" b="1" i="0">
                <a:solidFill>
                  <a:srgbClr val="141413"/>
                </a:solidFill>
                <a:latin typeface="Arial"/>
              </a:rPr>
              <a:t>The usage dashboard is managed for you. </a:t>
            </a:r>
            <a:r>
              <a:rPr sz="1450" b="0" i="0">
                <a:solidFill>
                  <a:srgbClr val="3D3D3A"/>
                </a:solidFill>
                <a:latin typeface="Arial"/>
              </a:rPr>
              <a:t>Metrics flow to CloudWatch and auto-populate the built-in Coding Agent Insights dashboard — cost and tokens by user, team, and model, plus adoption — with nothing to build. The gateway's own dashboard is then just the governance and audit companion.</a:t>
            </a:r>
          </a:p>
          <a:p>
            <a:pPr algn="l">
              <a:lnSpc>
                <a:spcPct val="108000"/>
              </a:lnSpc>
              <a:spcAft>
                <a:spcPts val="1700"/>
              </a:spcAft>
            </a:pPr>
            <a:r>
              <a:rPr sz="1450" b="1" i="0">
                <a:solidFill>
                  <a:srgbClr val="CC785C"/>
                </a:solidFill>
                <a:latin typeface="Arial"/>
              </a:rPr>
              <a:t>—  </a:t>
            </a:r>
            <a:r>
              <a:rPr sz="1450" b="1" i="0">
                <a:solidFill>
                  <a:srgbClr val="141413"/>
                </a:solidFill>
                <a:latin typeface="Arial"/>
              </a:rPr>
              <a:t>Alerts can trigger action, not just email. </a:t>
            </a:r>
            <a:r>
              <a:rPr sz="1450" b="0" i="0">
                <a:solidFill>
                  <a:srgbClr val="3D3D3A"/>
                </a:solidFill>
                <a:latin typeface="Arial"/>
              </a:rPr>
              <a:t>A threshold or anomaly raises a notification that can reach a person on Slack or page an on-call engineer, and can equally invoke a function that adjusts a budget on its own.</a:t>
            </a:r>
          </a:p>
        </p:txBody>
      </p:sp>
      <p:sp>
        <p:nvSpPr>
          <p:cNvPr id="7" name="Rounded Rectangle 6"/>
          <p:cNvSpPr/>
          <p:nvPr/>
        </p:nvSpPr>
        <p:spPr>
          <a:xfrm>
            <a:off x="7315200" y="2148840"/>
            <a:ext cx="4023360" cy="324612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350008"/>
            <a:ext cx="3474720" cy="365760"/>
          </a:xfrm>
          <a:prstGeom prst="rect">
            <a:avLst/>
          </a:prstGeom>
          <a:noFill/>
        </p:spPr>
        <p:txBody>
          <a:bodyPr wrap="square" anchor="t" lIns="0" rIns="0" tIns="0" bIns="0">
            <a:spAutoFit/>
          </a:bodyPr>
          <a:lstStyle/>
          <a:p>
            <a:pPr algn="l">
              <a:spcBef>
                <a:spcPts val="0"/>
              </a:spcBef>
              <a:spcAft>
                <a:spcPts val="0"/>
              </a:spcAft>
            </a:pPr>
            <a:r>
              <a:rPr sz="1300" b="1" i="0">
                <a:solidFill>
                  <a:srgbClr val="141413"/>
                </a:solidFill>
                <a:latin typeface="Georgia"/>
              </a:rPr>
              <a:t>Coding Agent Insights — cost by team</a:t>
            </a:r>
          </a:p>
        </p:txBody>
      </p:sp>
      <p:sp>
        <p:nvSpPr>
          <p:cNvPr id="9" name="TextBox 8"/>
          <p:cNvSpPr txBox="1"/>
          <p:nvPr/>
        </p:nvSpPr>
        <p:spPr>
          <a:xfrm>
            <a:off x="7571232" y="2907792"/>
            <a:ext cx="1097280" cy="384048"/>
          </a:xfrm>
          <a:prstGeom prst="rect">
            <a:avLst/>
          </a:prstGeom>
          <a:noFill/>
        </p:spPr>
        <p:txBody>
          <a:bodyPr wrap="square" anchor="ctr" lIns="0" rIns="0" tIns="0" bIns="0">
            <a:spAutoFit/>
          </a:bodyPr>
          <a:lstStyle/>
          <a:p>
            <a:pPr algn="l">
              <a:spcBef>
                <a:spcPts val="0"/>
              </a:spcBef>
              <a:spcAft>
                <a:spcPts val="0"/>
              </a:spcAft>
            </a:pPr>
            <a:r>
              <a:rPr sz="1050" b="0" i="0">
                <a:solidFill>
                  <a:srgbClr val="3D3D3A"/>
                </a:solidFill>
                <a:latin typeface="Arial"/>
              </a:rPr>
              <a:t>Core eng</a:t>
            </a:r>
          </a:p>
        </p:txBody>
      </p:sp>
      <p:sp>
        <p:nvSpPr>
          <p:cNvPr id="10" name="Rounded Rectangle 9"/>
          <p:cNvSpPr/>
          <p:nvPr/>
        </p:nvSpPr>
        <p:spPr>
          <a:xfrm>
            <a:off x="8686800" y="2926080"/>
            <a:ext cx="1976932" cy="384048"/>
          </a:xfrm>
          <a:prstGeom prst="roundRect">
            <a:avLst>
              <a:gd name="adj" fmla="val 6000"/>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71232" y="3511296"/>
            <a:ext cx="1097280" cy="384048"/>
          </a:xfrm>
          <a:prstGeom prst="rect">
            <a:avLst/>
          </a:prstGeom>
          <a:noFill/>
        </p:spPr>
        <p:txBody>
          <a:bodyPr wrap="square" anchor="ctr" lIns="0" rIns="0" tIns="0" bIns="0">
            <a:spAutoFit/>
          </a:bodyPr>
          <a:lstStyle/>
          <a:p>
            <a:pPr algn="l">
              <a:spcBef>
                <a:spcPts val="0"/>
              </a:spcBef>
              <a:spcAft>
                <a:spcPts val="0"/>
              </a:spcAft>
            </a:pPr>
            <a:r>
              <a:rPr sz="1050" b="0" i="0">
                <a:solidFill>
                  <a:srgbClr val="3D3D3A"/>
                </a:solidFill>
                <a:latin typeface="Arial"/>
              </a:rPr>
              <a:t>Data sci</a:t>
            </a:r>
          </a:p>
        </p:txBody>
      </p:sp>
      <p:sp>
        <p:nvSpPr>
          <p:cNvPr id="12" name="Rounded Rectangle 11"/>
          <p:cNvSpPr/>
          <p:nvPr/>
        </p:nvSpPr>
        <p:spPr>
          <a:xfrm>
            <a:off x="8686800" y="3529584"/>
            <a:ext cx="1310792" cy="384048"/>
          </a:xfrm>
          <a:prstGeom prst="roundRect">
            <a:avLst>
              <a:gd name="adj" fmla="val 6000"/>
            </a:avLst>
          </a:prstGeom>
          <a:solidFill>
            <a:srgbClr val="628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71232" y="4114800"/>
            <a:ext cx="1097280" cy="384048"/>
          </a:xfrm>
          <a:prstGeom prst="rect">
            <a:avLst/>
          </a:prstGeom>
          <a:noFill/>
        </p:spPr>
        <p:txBody>
          <a:bodyPr wrap="square" anchor="ctr" lIns="0" rIns="0" tIns="0" bIns="0">
            <a:spAutoFit/>
          </a:bodyPr>
          <a:lstStyle/>
          <a:p>
            <a:pPr algn="l">
              <a:spcBef>
                <a:spcPts val="0"/>
              </a:spcBef>
              <a:spcAft>
                <a:spcPts val="0"/>
              </a:spcAft>
            </a:pPr>
            <a:r>
              <a:rPr sz="1050" b="0" i="0">
                <a:solidFill>
                  <a:srgbClr val="3D3D3A"/>
                </a:solidFill>
                <a:latin typeface="Arial"/>
              </a:rPr>
              <a:t>Platform</a:t>
            </a:r>
          </a:p>
        </p:txBody>
      </p:sp>
      <p:sp>
        <p:nvSpPr>
          <p:cNvPr id="14" name="Rounded Rectangle 13"/>
          <p:cNvSpPr/>
          <p:nvPr/>
        </p:nvSpPr>
        <p:spPr>
          <a:xfrm>
            <a:off x="8686800" y="4133088"/>
            <a:ext cx="945489" cy="384048"/>
          </a:xfrm>
          <a:prstGeom prst="roundRect">
            <a:avLst>
              <a:gd name="adj" fmla="val 6000"/>
            </a:avLst>
          </a:prstGeom>
          <a:solidFill>
            <a:srgbClr val="8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71232" y="4718304"/>
            <a:ext cx="1097280" cy="384048"/>
          </a:xfrm>
          <a:prstGeom prst="rect">
            <a:avLst/>
          </a:prstGeom>
          <a:noFill/>
        </p:spPr>
        <p:txBody>
          <a:bodyPr wrap="square" anchor="ctr" lIns="0" rIns="0" tIns="0" bIns="0">
            <a:spAutoFit/>
          </a:bodyPr>
          <a:lstStyle/>
          <a:p>
            <a:pPr algn="l">
              <a:spcBef>
                <a:spcPts val="0"/>
              </a:spcBef>
              <a:spcAft>
                <a:spcPts val="0"/>
              </a:spcAft>
            </a:pPr>
            <a:r>
              <a:rPr sz="1050" b="0" i="0">
                <a:solidFill>
                  <a:srgbClr val="3D3D3A"/>
                </a:solidFill>
                <a:latin typeface="Arial"/>
              </a:rPr>
              <a:t>Contractors</a:t>
            </a:r>
          </a:p>
        </p:txBody>
      </p:sp>
      <p:sp>
        <p:nvSpPr>
          <p:cNvPr id="16" name="Rounded Rectangle 15"/>
          <p:cNvSpPr/>
          <p:nvPr/>
        </p:nvSpPr>
        <p:spPr>
          <a:xfrm>
            <a:off x="8686800" y="4736592"/>
            <a:ext cx="472744" cy="384048"/>
          </a:xfrm>
          <a:prstGeom prst="roundRect">
            <a:avLst>
              <a:gd name="adj" fmla="val 6000"/>
            </a:avLst>
          </a:prstGeom>
          <a:solidFill>
            <a:srgbClr val="737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9" name="TextBox 18"/>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8A9A5B"/>
                </a:solidFill>
                <a:latin typeface="Arial"/>
              </a:rPr>
              <a:t>PILLAR 03 · VISIBILITY</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Two dashboards: usage you get for free, governance you own</a:t>
            </a:r>
          </a:p>
        </p:txBody>
      </p:sp>
      <p:sp>
        <p:nvSpPr>
          <p:cNvPr id="5" name="TextBox 4"/>
          <p:cNvSpPr txBox="1"/>
          <p:nvPr/>
        </p:nvSpPr>
        <p:spPr>
          <a:xfrm>
            <a:off x="822960" y="1737360"/>
            <a:ext cx="10424160" cy="640080"/>
          </a:xfrm>
          <a:prstGeom prst="rect">
            <a:avLst/>
          </a:prstGeom>
          <a:noFill/>
        </p:spPr>
        <p:txBody>
          <a:bodyPr wrap="square" anchor="t" lIns="0" rIns="0" tIns="0" bIns="0">
            <a:spAutoFit/>
          </a:bodyPr>
          <a:lstStyle/>
          <a:p>
            <a:pPr algn="l">
              <a:lnSpc>
                <a:spcPct val="115000"/>
              </a:lnSpc>
              <a:spcBef>
                <a:spcPts val="0"/>
              </a:spcBef>
              <a:spcAft>
                <a:spcPts val="0"/>
              </a:spcAft>
            </a:pPr>
            <a:r>
              <a:rPr sz="1400" b="0" i="0">
                <a:solidFill>
                  <a:srgbClr val="3D3D3A"/>
                </a:solidFill>
                <a:latin typeface="Arial"/>
              </a:rPr>
              <a:t>The gateway forwards its metrics over native OTLP to CloudWatch, which splits visibility across two dashboards on purpose — one managed by AWS for usage, one shipped by the stack for governance.</a:t>
            </a:r>
          </a:p>
        </p:txBody>
      </p:sp>
      <p:sp>
        <p:nvSpPr>
          <p:cNvPr id="6" name="Rounded Rectangle 5"/>
          <p:cNvSpPr/>
          <p:nvPr/>
        </p:nvSpPr>
        <p:spPr>
          <a:xfrm>
            <a:off x="822960" y="2514600"/>
            <a:ext cx="5120640" cy="35204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807208"/>
            <a:ext cx="4535424" cy="2971800"/>
          </a:xfrm>
          <a:prstGeom prst="rect">
            <a:avLst/>
          </a:prstGeom>
          <a:noFill/>
        </p:spPr>
        <p:txBody>
          <a:bodyPr wrap="square" anchor="t" lIns="0" rIns="0" tIns="0" bIns="0">
            <a:spAutoFit/>
          </a:bodyPr>
          <a:lstStyle/>
          <a:p>
            <a:pPr algn="l">
              <a:spcBef>
                <a:spcPts val="0"/>
              </a:spcBef>
              <a:spcAft>
                <a:spcPts val="800"/>
              </a:spcAft>
            </a:pPr>
            <a:r>
              <a:rPr sz="1700" b="1" i="0">
                <a:solidFill>
                  <a:srgbClr val="8A9A5B"/>
                </a:solidFill>
                <a:latin typeface="Georgia"/>
              </a:rPr>
              <a:t>Coding Agent Insights, managed</a:t>
            </a:r>
          </a:p>
          <a:p>
            <a:pPr algn="l">
              <a:lnSpc>
                <a:spcPct val="118000"/>
              </a:lnSpc>
              <a:spcBef>
                <a:spcPts val="0"/>
              </a:spcBef>
              <a:spcAft>
                <a:spcPts val="800"/>
              </a:spcAft>
            </a:pPr>
            <a:r>
              <a:rPr sz="1300" b="0" i="0">
                <a:solidFill>
                  <a:srgbClr val="3D3D3A"/>
                </a:solidFill>
                <a:latin typeface="Arial"/>
              </a:rPr>
              <a:t>Native OTLP metrics auto-populate CloudWatch's built-in Coding Agent Insights dashboard — cost, tokens, and adoption sliced by user, team, and model. You create nothing; it appears once metrics flow.</a:t>
            </a:r>
          </a:p>
          <a:p>
            <a:pPr algn="l">
              <a:lnSpc>
                <a:spcPct val="118000"/>
              </a:lnSpc>
              <a:spcBef>
                <a:spcPts val="0"/>
              </a:spcBef>
              <a:spcAft>
                <a:spcPts val="0"/>
              </a:spcAft>
            </a:pPr>
            <a:r>
              <a:rPr sz="1300" b="0" i="0">
                <a:solidFill>
                  <a:srgbClr val="3D3D3A"/>
                </a:solidFill>
                <a:latin typeface="Arial"/>
              </a:rPr>
              <a:t>The same metrics are queryable in PromQL and drive the cost alarms, whether one watches the organization's total spend or a single individual's.</a:t>
            </a:r>
          </a:p>
        </p:txBody>
      </p:sp>
      <p:sp>
        <p:nvSpPr>
          <p:cNvPr id="8" name="Rounded Rectangle 7"/>
          <p:cNvSpPr/>
          <p:nvPr/>
        </p:nvSpPr>
        <p:spPr>
          <a:xfrm>
            <a:off x="6245352" y="2514600"/>
            <a:ext cx="5120640" cy="35204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807208"/>
            <a:ext cx="4535424" cy="2971800"/>
          </a:xfrm>
          <a:prstGeom prst="rect">
            <a:avLst/>
          </a:prstGeom>
          <a:noFill/>
        </p:spPr>
        <p:txBody>
          <a:bodyPr wrap="square" anchor="t" lIns="0" rIns="0" tIns="0" bIns="0">
            <a:spAutoFit/>
          </a:bodyPr>
          <a:lstStyle/>
          <a:p>
            <a:pPr algn="l">
              <a:spcBef>
                <a:spcPts val="0"/>
              </a:spcBef>
              <a:spcAft>
                <a:spcPts val="800"/>
              </a:spcAft>
            </a:pPr>
            <a:r>
              <a:rPr sz="1700" b="1" i="0">
                <a:solidFill>
                  <a:srgbClr val="628C9E"/>
                </a:solidFill>
                <a:latin typeface="Georgia"/>
              </a:rPr>
              <a:t>The governance dashboard, yours</a:t>
            </a:r>
          </a:p>
          <a:p>
            <a:pPr algn="l">
              <a:lnSpc>
                <a:spcPct val="118000"/>
              </a:lnSpc>
              <a:spcBef>
                <a:spcPts val="0"/>
              </a:spcBef>
              <a:spcAft>
                <a:spcPts val="800"/>
              </a:spcAft>
            </a:pPr>
            <a:r>
              <a:rPr sz="1300" b="0" i="0">
                <a:solidFill>
                  <a:srgbClr val="3D3D3A"/>
                </a:solidFill>
                <a:latin typeface="Arial"/>
              </a:rPr>
              <a:t>The stack ships a lean governance dashboard for the audit signals Coding Agent Insights does not cover — an event for each tool decision, sign-in, and error, kept as searchable logs.</a:t>
            </a:r>
          </a:p>
          <a:p>
            <a:pPr algn="l">
              <a:lnSpc>
                <a:spcPct val="118000"/>
              </a:lnSpc>
              <a:spcBef>
                <a:spcPts val="0"/>
              </a:spcBef>
              <a:spcAft>
                <a:spcPts val="0"/>
              </a:spcAft>
            </a:pPr>
            <a:r>
              <a:rPr sz="1300" b="0" i="0">
                <a:solidFill>
                  <a:srgbClr val="3D3D3A"/>
                </a:solidFill>
                <a:latin typeface="Arial"/>
              </a:rPr>
              <a:t>This is where you answer the pointed questions — who was denied a tool, whose sign-in failed, how spend breaks down by team — by querying the events rather than turning every one into its own metric.</a:t>
            </a:r>
          </a:p>
        </p:txBody>
      </p:sp>
      <p:sp>
        <p:nvSpPr>
          <p:cNvPr id="10" name="Rectangle 9"/>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2" name="TextBox 11"/>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THE FOUNDATION</a:t>
            </a:r>
          </a:p>
        </p:txBody>
      </p:sp>
      <p:sp>
        <p:nvSpPr>
          <p:cNvPr id="4" name="TextBox 3"/>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Governance rests on identity and isolation</a:t>
            </a:r>
          </a:p>
        </p:txBody>
      </p:sp>
      <p:sp>
        <p:nvSpPr>
          <p:cNvPr id="5" name="Rounded Rectangle 4"/>
          <p:cNvSpPr/>
          <p:nvPr/>
        </p:nvSpPr>
        <p:spPr>
          <a:xfrm>
            <a:off x="822960" y="2103120"/>
            <a:ext cx="2587752"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078992" y="2395728"/>
            <a:ext cx="457200" cy="457200"/>
          </a:xfrm>
          <a:prstGeom prst="roundRect">
            <a:avLst>
              <a:gd name="adj" fmla="val 6000"/>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78992" y="3063240"/>
            <a:ext cx="2075688" cy="2103120"/>
          </a:xfrm>
          <a:prstGeom prst="rect">
            <a:avLst/>
          </a:prstGeom>
          <a:noFill/>
        </p:spPr>
        <p:txBody>
          <a:bodyPr wrap="square" anchor="t" lIns="0" rIns="0" tIns="0" bIns="0">
            <a:spAutoFit/>
          </a:bodyPr>
          <a:lstStyle/>
          <a:p>
            <a:pPr algn="l">
              <a:spcBef>
                <a:spcPts val="0"/>
              </a:spcBef>
              <a:spcAft>
                <a:spcPts val="800"/>
              </a:spcAft>
            </a:pPr>
            <a:r>
              <a:rPr sz="1650" b="1" i="0">
                <a:solidFill>
                  <a:srgbClr val="141413"/>
                </a:solidFill>
                <a:latin typeface="Georgia"/>
              </a:rPr>
              <a:t>Corporate sign-in</a:t>
            </a:r>
          </a:p>
          <a:p>
            <a:pPr algn="l">
              <a:lnSpc>
                <a:spcPct val="116000"/>
              </a:lnSpc>
              <a:spcBef>
                <a:spcPts val="0"/>
              </a:spcBef>
              <a:spcAft>
                <a:spcPts val="0"/>
              </a:spcAft>
            </a:pPr>
            <a:r>
              <a:rPr sz="1250" b="0" i="0">
                <a:solidFill>
                  <a:srgbClr val="3D3D3A"/>
                </a:solidFill>
                <a:latin typeface="Arial"/>
              </a:rPr>
              <a:t>Developers authenticate through your own identity provider, so no API keys or cloud credentials ever sit on a laptop.</a:t>
            </a:r>
          </a:p>
        </p:txBody>
      </p:sp>
      <p:sp>
        <p:nvSpPr>
          <p:cNvPr id="8" name="Rounded Rectangle 7"/>
          <p:cNvSpPr/>
          <p:nvPr/>
        </p:nvSpPr>
        <p:spPr>
          <a:xfrm>
            <a:off x="3593592" y="2103120"/>
            <a:ext cx="2587752"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849624" y="2395728"/>
            <a:ext cx="457200" cy="457200"/>
          </a:xfrm>
          <a:prstGeom prst="roundRect">
            <a:avLst>
              <a:gd name="adj" fmla="val 6000"/>
            </a:avLst>
          </a:prstGeom>
          <a:solidFill>
            <a:srgbClr val="628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49624" y="3063240"/>
            <a:ext cx="2075688" cy="2103120"/>
          </a:xfrm>
          <a:prstGeom prst="rect">
            <a:avLst/>
          </a:prstGeom>
          <a:noFill/>
        </p:spPr>
        <p:txBody>
          <a:bodyPr wrap="square" anchor="t" lIns="0" rIns="0" tIns="0" bIns="0">
            <a:spAutoFit/>
          </a:bodyPr>
          <a:lstStyle/>
          <a:p>
            <a:pPr algn="l">
              <a:spcBef>
                <a:spcPts val="0"/>
              </a:spcBef>
              <a:spcAft>
                <a:spcPts val="800"/>
              </a:spcAft>
            </a:pPr>
            <a:r>
              <a:rPr sz="1650" b="1" i="0">
                <a:solidFill>
                  <a:srgbClr val="141413"/>
                </a:solidFill>
                <a:latin typeface="Georgia"/>
              </a:rPr>
              <a:t>Sessions that expire</a:t>
            </a:r>
          </a:p>
          <a:p>
            <a:pPr algn="l">
              <a:lnSpc>
                <a:spcPct val="116000"/>
              </a:lnSpc>
              <a:spcBef>
                <a:spcPts val="0"/>
              </a:spcBef>
              <a:spcAft>
                <a:spcPts val="0"/>
              </a:spcAft>
            </a:pPr>
            <a:r>
              <a:rPr sz="1250" b="0" i="0">
                <a:solidFill>
                  <a:srgbClr val="3D3D3A"/>
                </a:solidFill>
                <a:latin typeface="Arial"/>
              </a:rPr>
              <a:t>Access is granted as a short-lived token, so removing someone in your directory ends their gateway access within the session lifetime you set.</a:t>
            </a:r>
          </a:p>
        </p:txBody>
      </p:sp>
      <p:sp>
        <p:nvSpPr>
          <p:cNvPr id="11" name="Rounded Rectangle 10"/>
          <p:cNvSpPr/>
          <p:nvPr/>
        </p:nvSpPr>
        <p:spPr>
          <a:xfrm>
            <a:off x="6364224" y="2103120"/>
            <a:ext cx="2587752"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620256" y="2395728"/>
            <a:ext cx="457200" cy="457200"/>
          </a:xfrm>
          <a:prstGeom prst="roundRect">
            <a:avLst>
              <a:gd name="adj" fmla="val 6000"/>
            </a:avLst>
          </a:prstGeom>
          <a:solidFill>
            <a:srgbClr val="8A9A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20256" y="3063240"/>
            <a:ext cx="2075688" cy="2103120"/>
          </a:xfrm>
          <a:prstGeom prst="rect">
            <a:avLst/>
          </a:prstGeom>
          <a:noFill/>
        </p:spPr>
        <p:txBody>
          <a:bodyPr wrap="square" anchor="t" lIns="0" rIns="0" tIns="0" bIns="0">
            <a:spAutoFit/>
          </a:bodyPr>
          <a:lstStyle/>
          <a:p>
            <a:pPr algn="l">
              <a:spcBef>
                <a:spcPts val="0"/>
              </a:spcBef>
              <a:spcAft>
                <a:spcPts val="800"/>
              </a:spcAft>
            </a:pPr>
            <a:r>
              <a:rPr sz="1650" b="1" i="0">
                <a:solidFill>
                  <a:srgbClr val="141413"/>
                </a:solidFill>
                <a:latin typeface="Georgia"/>
              </a:rPr>
              <a:t>Private by design</a:t>
            </a:r>
          </a:p>
          <a:p>
            <a:pPr algn="l">
              <a:lnSpc>
                <a:spcPct val="116000"/>
              </a:lnSpc>
              <a:spcBef>
                <a:spcPts val="0"/>
              </a:spcBef>
              <a:spcAft>
                <a:spcPts val="0"/>
              </a:spcAft>
            </a:pPr>
            <a:r>
              <a:rPr sz="1250" b="0" i="0">
                <a:solidFill>
                  <a:srgbClr val="3D3D3A"/>
                </a:solidFill>
                <a:latin typeface="Arial"/>
              </a:rPr>
              <a:t>The gateway is reachable only on your internal network, and Claude Code refuses to connect to one that resolves to a public address.</a:t>
            </a:r>
          </a:p>
        </p:txBody>
      </p:sp>
      <p:sp>
        <p:nvSpPr>
          <p:cNvPr id="14" name="Rounded Rectangle 13"/>
          <p:cNvSpPr/>
          <p:nvPr/>
        </p:nvSpPr>
        <p:spPr>
          <a:xfrm>
            <a:off x="9134856" y="2103120"/>
            <a:ext cx="2587752"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390888" y="2395728"/>
            <a:ext cx="457200" cy="457200"/>
          </a:xfrm>
          <a:prstGeom prst="roundRect">
            <a:avLst>
              <a:gd name="adj" fmla="val 6000"/>
            </a:avLst>
          </a:prstGeom>
          <a:solidFill>
            <a:srgbClr val="A854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90888" y="3063240"/>
            <a:ext cx="2075688" cy="2103120"/>
          </a:xfrm>
          <a:prstGeom prst="rect">
            <a:avLst/>
          </a:prstGeom>
          <a:noFill/>
        </p:spPr>
        <p:txBody>
          <a:bodyPr wrap="square" anchor="t" lIns="0" rIns="0" tIns="0" bIns="0">
            <a:spAutoFit/>
          </a:bodyPr>
          <a:lstStyle/>
          <a:p>
            <a:pPr algn="l">
              <a:spcBef>
                <a:spcPts val="0"/>
              </a:spcBef>
              <a:spcAft>
                <a:spcPts val="800"/>
              </a:spcAft>
            </a:pPr>
            <a:r>
              <a:rPr sz="1650" b="1" i="0">
                <a:solidFill>
                  <a:srgbClr val="141413"/>
                </a:solidFill>
                <a:latin typeface="Georgia"/>
              </a:rPr>
              <a:t>Least privilege</a:t>
            </a:r>
          </a:p>
          <a:p>
            <a:pPr algn="l">
              <a:lnSpc>
                <a:spcPct val="116000"/>
              </a:lnSpc>
              <a:spcBef>
                <a:spcPts val="0"/>
              </a:spcBef>
              <a:spcAft>
                <a:spcPts val="0"/>
              </a:spcAft>
            </a:pPr>
            <a:r>
              <a:rPr sz="1250" b="0" i="0">
                <a:solidFill>
                  <a:srgbClr val="3D3D3A"/>
                </a:solidFill>
                <a:latin typeface="Arial"/>
              </a:rPr>
              <a:t>The gateway's own role is allowed to invoke Claude on Bedrock and nothing else, so a compromise cannot reach the rest of your account.</a:t>
            </a:r>
          </a:p>
        </p:txBody>
      </p:sp>
      <p:sp>
        <p:nvSpPr>
          <p:cNvPr id="17" name="Rectangle 16"/>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9" name="TextBox 18"/>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LIVE DEMO</a:t>
            </a:r>
          </a:p>
        </p:txBody>
      </p:sp>
      <p:sp>
        <p:nvSpPr>
          <p:cNvPr id="5" name="TextBox 4"/>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The five-minute governance walkthrough</a:t>
            </a:r>
          </a:p>
        </p:txBody>
      </p:sp>
      <p:sp>
        <p:nvSpPr>
          <p:cNvPr id="6" name="Oval 5"/>
          <p:cNvSpPr/>
          <p:nvPr/>
        </p:nvSpPr>
        <p:spPr>
          <a:xfrm>
            <a:off x="868680" y="1965960"/>
            <a:ext cx="566928" cy="566928"/>
          </a:xfrm>
          <a:prstGeom prst="ellipse">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0EEE6"/>
                </a:solidFill>
                <a:latin typeface="Georgia"/>
              </a:rPr>
              <a:t>1</a:t>
            </a:r>
          </a:p>
        </p:txBody>
      </p:sp>
      <p:sp>
        <p:nvSpPr>
          <p:cNvPr id="7" name="TextBox 6"/>
          <p:cNvSpPr txBox="1"/>
          <p:nvPr/>
        </p:nvSpPr>
        <p:spPr>
          <a:xfrm>
            <a:off x="1691640" y="1947672"/>
            <a:ext cx="9509760" cy="658368"/>
          </a:xfrm>
          <a:prstGeom prst="rect">
            <a:avLst/>
          </a:prstGeom>
          <a:noFill/>
        </p:spPr>
        <p:txBody>
          <a:bodyPr wrap="square" anchor="ctr" lIns="0" rIns="0" tIns="0" bIns="0">
            <a:spAutoFit/>
          </a:bodyPr>
          <a:lstStyle/>
          <a:p>
            <a:pPr algn="l">
              <a:spcBef>
                <a:spcPts val="0"/>
              </a:spcBef>
              <a:spcAft>
                <a:spcPts val="100"/>
              </a:spcAft>
            </a:pPr>
            <a:r>
              <a:rPr sz="1700" b="1" i="0">
                <a:solidFill>
                  <a:srgbClr val="141413"/>
                </a:solidFill>
                <a:latin typeface="Arial"/>
              </a:rPr>
              <a:t>Set a deliberately tight cap</a:t>
            </a:r>
          </a:p>
          <a:p>
            <a:pPr algn="l">
              <a:spcBef>
                <a:spcPts val="0"/>
              </a:spcBef>
              <a:spcAft>
                <a:spcPts val="0"/>
              </a:spcAft>
            </a:pPr>
            <a:r>
              <a:rPr sz="1300" b="0" i="0">
                <a:solidFill>
                  <a:srgbClr val="3D3D3A"/>
                </a:solidFill>
                <a:latin typeface="Arial"/>
              </a:rPr>
              <a:t>We give a test group a one-dollar daily budget through the admin API.</a:t>
            </a:r>
          </a:p>
        </p:txBody>
      </p:sp>
      <p:sp>
        <p:nvSpPr>
          <p:cNvPr id="8" name="Oval 7"/>
          <p:cNvSpPr/>
          <p:nvPr/>
        </p:nvSpPr>
        <p:spPr>
          <a:xfrm>
            <a:off x="868680" y="2807208"/>
            <a:ext cx="566928" cy="566928"/>
          </a:xfrm>
          <a:prstGeom prst="ellipse">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0EEE6"/>
                </a:solidFill>
                <a:latin typeface="Georgia"/>
              </a:rPr>
              <a:t>2</a:t>
            </a:r>
          </a:p>
        </p:txBody>
      </p:sp>
      <p:sp>
        <p:nvSpPr>
          <p:cNvPr id="9" name="TextBox 8"/>
          <p:cNvSpPr txBox="1"/>
          <p:nvPr/>
        </p:nvSpPr>
        <p:spPr>
          <a:xfrm>
            <a:off x="1691640" y="2788920"/>
            <a:ext cx="9509760" cy="658368"/>
          </a:xfrm>
          <a:prstGeom prst="rect">
            <a:avLst/>
          </a:prstGeom>
          <a:noFill/>
        </p:spPr>
        <p:txBody>
          <a:bodyPr wrap="square" anchor="ctr" lIns="0" rIns="0" tIns="0" bIns="0">
            <a:spAutoFit/>
          </a:bodyPr>
          <a:lstStyle/>
          <a:p>
            <a:pPr algn="l">
              <a:spcBef>
                <a:spcPts val="0"/>
              </a:spcBef>
              <a:spcAft>
                <a:spcPts val="100"/>
              </a:spcAft>
            </a:pPr>
            <a:r>
              <a:rPr sz="1700" b="1" i="0">
                <a:solidFill>
                  <a:srgbClr val="141413"/>
                </a:solidFill>
                <a:latin typeface="Arial"/>
              </a:rPr>
              <a:t>Spend against it</a:t>
            </a:r>
          </a:p>
          <a:p>
            <a:pPr algn="l">
              <a:spcBef>
                <a:spcPts val="0"/>
              </a:spcBef>
              <a:spcAft>
                <a:spcPts val="0"/>
              </a:spcAft>
            </a:pPr>
            <a:r>
              <a:rPr sz="1300" b="0" i="0">
                <a:solidFill>
                  <a:srgbClr val="3D3D3A"/>
                </a:solidFill>
                <a:latin typeface="Arial"/>
              </a:rPr>
              <a:t>We run a few Claude Code turns and watch the running total climb toward that ceiling.</a:t>
            </a:r>
          </a:p>
        </p:txBody>
      </p:sp>
      <p:sp>
        <p:nvSpPr>
          <p:cNvPr id="10" name="Oval 9"/>
          <p:cNvSpPr/>
          <p:nvPr/>
        </p:nvSpPr>
        <p:spPr>
          <a:xfrm>
            <a:off x="868680" y="3648456"/>
            <a:ext cx="566928" cy="566928"/>
          </a:xfrm>
          <a:prstGeom prst="ellipse">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0EEE6"/>
                </a:solidFill>
                <a:latin typeface="Georgia"/>
              </a:rPr>
              <a:t>3</a:t>
            </a:r>
          </a:p>
        </p:txBody>
      </p:sp>
      <p:sp>
        <p:nvSpPr>
          <p:cNvPr id="11" name="TextBox 10"/>
          <p:cNvSpPr txBox="1"/>
          <p:nvPr/>
        </p:nvSpPr>
        <p:spPr>
          <a:xfrm>
            <a:off x="1691640" y="3630168"/>
            <a:ext cx="9509760" cy="658368"/>
          </a:xfrm>
          <a:prstGeom prst="rect">
            <a:avLst/>
          </a:prstGeom>
          <a:noFill/>
        </p:spPr>
        <p:txBody>
          <a:bodyPr wrap="square" anchor="ctr" lIns="0" rIns="0" tIns="0" bIns="0">
            <a:spAutoFit/>
          </a:bodyPr>
          <a:lstStyle/>
          <a:p>
            <a:pPr algn="l">
              <a:spcBef>
                <a:spcPts val="0"/>
              </a:spcBef>
              <a:spcAft>
                <a:spcPts val="100"/>
              </a:spcAft>
            </a:pPr>
            <a:r>
              <a:rPr sz="1700" b="1" i="0">
                <a:solidFill>
                  <a:srgbClr val="141413"/>
                </a:solidFill>
                <a:latin typeface="Arial"/>
              </a:rPr>
              <a:t>Reach the limit</a:t>
            </a:r>
          </a:p>
          <a:p>
            <a:pPr algn="l">
              <a:spcBef>
                <a:spcPts val="0"/>
              </a:spcBef>
              <a:spcAft>
                <a:spcPts val="0"/>
              </a:spcAft>
            </a:pPr>
            <a:r>
              <a:rPr sz="1300" b="0" i="0">
                <a:solidFill>
                  <a:srgbClr val="3D3D3A"/>
                </a:solidFill>
                <a:latin typeface="Arial"/>
              </a:rPr>
              <a:t>The next request is refused with a billing error, showing the circuit breaker in action.</a:t>
            </a:r>
          </a:p>
        </p:txBody>
      </p:sp>
      <p:sp>
        <p:nvSpPr>
          <p:cNvPr id="12" name="Oval 11"/>
          <p:cNvSpPr/>
          <p:nvPr/>
        </p:nvSpPr>
        <p:spPr>
          <a:xfrm>
            <a:off x="868680" y="4489704"/>
            <a:ext cx="566928" cy="566928"/>
          </a:xfrm>
          <a:prstGeom prst="ellipse">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0EEE6"/>
                </a:solidFill>
                <a:latin typeface="Georgia"/>
              </a:rPr>
              <a:t>4</a:t>
            </a:r>
          </a:p>
        </p:txBody>
      </p:sp>
      <p:sp>
        <p:nvSpPr>
          <p:cNvPr id="13" name="TextBox 12"/>
          <p:cNvSpPr txBox="1"/>
          <p:nvPr/>
        </p:nvSpPr>
        <p:spPr>
          <a:xfrm>
            <a:off x="1691640" y="4471416"/>
            <a:ext cx="9509760" cy="658368"/>
          </a:xfrm>
          <a:prstGeom prst="rect">
            <a:avLst/>
          </a:prstGeom>
          <a:noFill/>
        </p:spPr>
        <p:txBody>
          <a:bodyPr wrap="square" anchor="ctr" lIns="0" rIns="0" tIns="0" bIns="0">
            <a:spAutoFit/>
          </a:bodyPr>
          <a:lstStyle/>
          <a:p>
            <a:pPr algn="l">
              <a:spcBef>
                <a:spcPts val="0"/>
              </a:spcBef>
              <a:spcAft>
                <a:spcPts val="100"/>
              </a:spcAft>
            </a:pPr>
            <a:r>
              <a:rPr sz="1700" b="1" i="0">
                <a:solidFill>
                  <a:srgbClr val="141413"/>
                </a:solidFill>
                <a:latin typeface="Arial"/>
              </a:rPr>
              <a:t>Raise it and recover</a:t>
            </a:r>
          </a:p>
          <a:p>
            <a:pPr algn="l">
              <a:spcBef>
                <a:spcPts val="0"/>
              </a:spcBef>
              <a:spcAft>
                <a:spcPts val="0"/>
              </a:spcAft>
            </a:pPr>
            <a:r>
              <a:rPr sz="1300" b="0" i="0">
                <a:solidFill>
                  <a:srgbClr val="3D3D3A"/>
                </a:solidFill>
                <a:latin typeface="Arial"/>
              </a:rPr>
              <a:t>We lift the cap with a single call, and the very next request succeeds without any redeployment.</a:t>
            </a:r>
          </a:p>
        </p:txBody>
      </p:sp>
      <p:sp>
        <p:nvSpPr>
          <p:cNvPr id="14" name="Oval 13"/>
          <p:cNvSpPr/>
          <p:nvPr/>
        </p:nvSpPr>
        <p:spPr>
          <a:xfrm>
            <a:off x="868680" y="5330952"/>
            <a:ext cx="566928" cy="566928"/>
          </a:xfrm>
          <a:prstGeom prst="ellipse">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0EEE6"/>
                </a:solidFill>
                <a:latin typeface="Georgia"/>
              </a:rPr>
              <a:t>5</a:t>
            </a:r>
          </a:p>
        </p:txBody>
      </p:sp>
      <p:sp>
        <p:nvSpPr>
          <p:cNvPr id="15" name="TextBox 14"/>
          <p:cNvSpPr txBox="1"/>
          <p:nvPr/>
        </p:nvSpPr>
        <p:spPr>
          <a:xfrm>
            <a:off x="1691640" y="5312664"/>
            <a:ext cx="9509760" cy="658368"/>
          </a:xfrm>
          <a:prstGeom prst="rect">
            <a:avLst/>
          </a:prstGeom>
          <a:noFill/>
        </p:spPr>
        <p:txBody>
          <a:bodyPr wrap="square" anchor="ctr" lIns="0" rIns="0" tIns="0" bIns="0">
            <a:spAutoFit/>
          </a:bodyPr>
          <a:lstStyle/>
          <a:p>
            <a:pPr algn="l">
              <a:spcBef>
                <a:spcPts val="0"/>
              </a:spcBef>
              <a:spcAft>
                <a:spcPts val="100"/>
              </a:spcAft>
            </a:pPr>
            <a:r>
              <a:rPr sz="1700" b="1" i="0">
                <a:solidFill>
                  <a:srgbClr val="141413"/>
                </a:solidFill>
                <a:latin typeface="Arial"/>
              </a:rPr>
              <a:t>Show access and visibility</a:t>
            </a:r>
          </a:p>
          <a:p>
            <a:pPr algn="l">
              <a:spcBef>
                <a:spcPts val="0"/>
              </a:spcBef>
              <a:spcAft>
                <a:spcPts val="0"/>
              </a:spcAft>
            </a:pPr>
            <a:r>
              <a:rPr sz="1300" b="0" i="0">
                <a:solidFill>
                  <a:srgbClr val="3D3D3A"/>
                </a:solidFill>
                <a:latin typeface="Arial"/>
              </a:rPr>
              <a:t>We demonstrate a tool withheld from one group, then open the managed Coding Agent Insights dashboard of top spenders.</a:t>
            </a:r>
          </a:p>
        </p:txBody>
      </p:sp>
      <p:sp>
        <p:nvSpPr>
          <p:cNvPr id="16" name="TextBox 15"/>
          <p:cNvSpPr txBox="1"/>
          <p:nvPr/>
        </p:nvSpPr>
        <p:spPr>
          <a:xfrm>
            <a:off x="1691640" y="6172200"/>
            <a:ext cx="9509760" cy="365760"/>
          </a:xfrm>
          <a:prstGeom prst="rect">
            <a:avLst/>
          </a:prstGeom>
          <a:noFill/>
        </p:spPr>
        <p:txBody>
          <a:bodyPr wrap="square" anchor="t" lIns="0" rIns="0" tIns="0" bIns="0">
            <a:spAutoFit/>
          </a:bodyPr>
          <a:lstStyle/>
          <a:p>
            <a:pPr algn="l">
              <a:spcBef>
                <a:spcPts val="0"/>
              </a:spcBef>
              <a:spcAft>
                <a:spcPts val="0"/>
              </a:spcAft>
            </a:pPr>
            <a:r>
              <a:rPr sz="1200" b="1" i="0">
                <a:solidFill>
                  <a:srgbClr val="CC785C"/>
                </a:solidFill>
                <a:latin typeface="Arial"/>
              </a:rPr>
              <a:t>The exact commands for each step are in slides/DEMO-RUNBOOK.md.</a:t>
            </a:r>
          </a:p>
        </p:txBody>
      </p:sp>
      <p:sp>
        <p:nvSpPr>
          <p:cNvPr id="17" name="Rectangle 16"/>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9" name="TextBox 18"/>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0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C78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66928"/>
            <a:ext cx="10058400" cy="365760"/>
          </a:xfrm>
          <a:prstGeom prst="rect">
            <a:avLst/>
          </a:prstGeom>
          <a:noFill/>
        </p:spPr>
        <p:txBody>
          <a:bodyPr wrap="square" anchor="t" lIns="0" rIns="0" tIns="0" bIns="0">
            <a:spAutoFit/>
          </a:bodyPr>
          <a:lstStyle/>
          <a:p>
            <a:pPr algn="l">
              <a:spcBef>
                <a:spcPts val="0"/>
              </a:spcBef>
              <a:spcAft>
                <a:spcPts val="0"/>
              </a:spcAft>
            </a:pPr>
            <a:r>
              <a:rPr sz="1300" b="1" i="0">
                <a:solidFill>
                  <a:srgbClr val="CC785C"/>
                </a:solidFill>
                <a:latin typeface="Arial"/>
              </a:rPr>
              <a:t>IN SUMMARY</a:t>
            </a:r>
          </a:p>
        </p:txBody>
      </p:sp>
      <p:sp>
        <p:nvSpPr>
          <p:cNvPr id="5" name="TextBox 4"/>
          <p:cNvSpPr txBox="1"/>
          <p:nvPr/>
        </p:nvSpPr>
        <p:spPr>
          <a:xfrm>
            <a:off x="822960" y="914400"/>
            <a:ext cx="10515600" cy="1188720"/>
          </a:xfrm>
          <a:prstGeom prst="rect">
            <a:avLst/>
          </a:prstGeom>
          <a:noFill/>
        </p:spPr>
        <p:txBody>
          <a:bodyPr wrap="square" anchor="t" lIns="0" rIns="0" tIns="0" bIns="0">
            <a:spAutoFit/>
          </a:bodyPr>
          <a:lstStyle/>
          <a:p>
            <a:pPr algn="l">
              <a:lnSpc>
                <a:spcPct val="102000"/>
              </a:lnSpc>
              <a:spcBef>
                <a:spcPts val="0"/>
              </a:spcBef>
              <a:spcAft>
                <a:spcPts val="0"/>
              </a:spcAft>
            </a:pPr>
            <a:r>
              <a:rPr sz="3400" b="0" i="0">
                <a:solidFill>
                  <a:srgbClr val="141413"/>
                </a:solidFill>
                <a:latin typeface="Georgia"/>
              </a:rPr>
              <a:t>You can configure it, track it, and cap it</a:t>
            </a:r>
          </a:p>
        </p:txBody>
      </p:sp>
      <p:sp>
        <p:nvSpPr>
          <p:cNvPr id="6" name="Rounded Rectangle 5"/>
          <p:cNvSpPr/>
          <p:nvPr/>
        </p:nvSpPr>
        <p:spPr>
          <a:xfrm>
            <a:off x="822960" y="1965960"/>
            <a:ext cx="5120640"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15568" y="2276856"/>
            <a:ext cx="4535424" cy="2743200"/>
          </a:xfrm>
          <a:prstGeom prst="rect">
            <a:avLst/>
          </a:prstGeom>
          <a:noFill/>
        </p:spPr>
        <p:txBody>
          <a:bodyPr wrap="square" anchor="t" lIns="0" rIns="0" tIns="0" bIns="0">
            <a:spAutoFit/>
          </a:bodyPr>
          <a:lstStyle/>
          <a:p>
            <a:pPr algn="l">
              <a:spcBef>
                <a:spcPts val="0"/>
              </a:spcBef>
              <a:spcAft>
                <a:spcPts val="1200"/>
              </a:spcAft>
            </a:pPr>
            <a:r>
              <a:rPr sz="1600" b="1" i="0">
                <a:solidFill>
                  <a:srgbClr val="8A9A5B"/>
                </a:solidFill>
                <a:latin typeface="Georgia"/>
              </a:rPr>
              <a:t>What the gateway enforces</a:t>
            </a:r>
          </a:p>
          <a:p>
            <a:pPr algn="l">
              <a:lnSpc>
                <a:spcPct val="114000"/>
              </a:lnSpc>
              <a:spcBef>
                <a:spcPts val="0"/>
              </a:spcBef>
              <a:spcAft>
                <a:spcPts val="900"/>
              </a:spcAft>
            </a:pPr>
            <a:r>
              <a:rPr sz="1350" b="0" i="0">
                <a:solidFill>
                  <a:srgbClr val="3D3D3A"/>
                </a:solidFill>
                <a:latin typeface="Arial"/>
              </a:rPr>
              <a:t>✓   It refuses requests once a budget is spent.</a:t>
            </a:r>
          </a:p>
          <a:p>
            <a:pPr algn="l">
              <a:lnSpc>
                <a:spcPct val="114000"/>
              </a:lnSpc>
              <a:spcBef>
                <a:spcPts val="0"/>
              </a:spcBef>
              <a:spcAft>
                <a:spcPts val="900"/>
              </a:spcAft>
            </a:pPr>
            <a:r>
              <a:rPr sz="1350" b="0" i="0">
                <a:solidFill>
                  <a:srgbClr val="3D3D3A"/>
                </a:solidFill>
                <a:latin typeface="Arial"/>
              </a:rPr>
              <a:t>✓   It rejects any model a team is not permitted to use.</a:t>
            </a:r>
          </a:p>
          <a:p>
            <a:pPr algn="l">
              <a:lnSpc>
                <a:spcPct val="114000"/>
              </a:lnSpc>
              <a:spcBef>
                <a:spcPts val="0"/>
              </a:spcBef>
              <a:spcAft>
                <a:spcPts val="900"/>
              </a:spcAft>
            </a:pPr>
            <a:r>
              <a:rPr sz="1350" b="0" i="0">
                <a:solidFill>
                  <a:srgbClr val="3D3D3A"/>
                </a:solidFill>
                <a:latin typeface="Arial"/>
              </a:rPr>
              <a:t>✓   It withholds the tools you choose to restrict.</a:t>
            </a:r>
          </a:p>
          <a:p>
            <a:pPr algn="l">
              <a:lnSpc>
                <a:spcPct val="114000"/>
              </a:lnSpc>
              <a:spcBef>
                <a:spcPts val="0"/>
              </a:spcBef>
              <a:spcAft>
                <a:spcPts val="900"/>
              </a:spcAft>
            </a:pPr>
            <a:r>
              <a:rPr sz="1350" b="0" i="0">
                <a:solidFill>
                  <a:srgbClr val="3D3D3A"/>
                </a:solidFill>
                <a:latin typeface="Arial"/>
              </a:rPr>
              <a:t>✓   It ties every session to your corporate identity.</a:t>
            </a:r>
          </a:p>
        </p:txBody>
      </p:sp>
      <p:sp>
        <p:nvSpPr>
          <p:cNvPr id="8" name="Rounded Rectangle 7"/>
          <p:cNvSpPr/>
          <p:nvPr/>
        </p:nvSpPr>
        <p:spPr>
          <a:xfrm>
            <a:off x="6245352" y="1965960"/>
            <a:ext cx="5120640" cy="3291840"/>
          </a:xfrm>
          <a:prstGeom prst="roundRect">
            <a:avLst>
              <a:gd name="adj" fmla="val 6000"/>
            </a:avLst>
          </a:prstGeom>
          <a:solidFill>
            <a:srgbClr val="FAF9F5"/>
          </a:solidFill>
          <a:ln w="12700">
            <a:solidFill>
              <a:srgbClr val="D9D5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2276856"/>
            <a:ext cx="4535424" cy="2743200"/>
          </a:xfrm>
          <a:prstGeom prst="rect">
            <a:avLst/>
          </a:prstGeom>
          <a:noFill/>
        </p:spPr>
        <p:txBody>
          <a:bodyPr wrap="square" anchor="t" lIns="0" rIns="0" tIns="0" bIns="0">
            <a:spAutoFit/>
          </a:bodyPr>
          <a:lstStyle/>
          <a:p>
            <a:pPr algn="l">
              <a:spcBef>
                <a:spcPts val="0"/>
              </a:spcBef>
              <a:spcAft>
                <a:spcPts val="1200"/>
              </a:spcAft>
            </a:pPr>
            <a:r>
              <a:rPr sz="1600" b="1" i="0">
                <a:solidFill>
                  <a:srgbClr val="628C9E"/>
                </a:solidFill>
                <a:latin typeface="Georgia"/>
              </a:rPr>
              <a:t>What the gateway reveals</a:t>
            </a:r>
          </a:p>
          <a:p>
            <a:pPr algn="l">
              <a:lnSpc>
                <a:spcPct val="114000"/>
              </a:lnSpc>
              <a:spcBef>
                <a:spcPts val="0"/>
              </a:spcBef>
              <a:spcAft>
                <a:spcPts val="900"/>
              </a:spcAft>
            </a:pPr>
            <a:r>
              <a:rPr sz="1350" b="0" i="0">
                <a:solidFill>
                  <a:srgbClr val="3D3D3A"/>
                </a:solidFill>
                <a:latin typeface="Arial"/>
              </a:rPr>
              <a:t>✓   It attributes cost to each person and team.</a:t>
            </a:r>
          </a:p>
          <a:p>
            <a:pPr algn="l">
              <a:lnSpc>
                <a:spcPct val="114000"/>
              </a:lnSpc>
              <a:spcBef>
                <a:spcPts val="0"/>
              </a:spcBef>
              <a:spcAft>
                <a:spcPts val="900"/>
              </a:spcAft>
            </a:pPr>
            <a:r>
              <a:rPr sz="1350" b="0" i="0">
                <a:solidFill>
                  <a:srgbClr val="3D3D3A"/>
                </a:solidFill>
                <a:latin typeface="Arial"/>
              </a:rPr>
              <a:t>✓   It presents usage in a managed dashboard, governance in its own.</a:t>
            </a:r>
          </a:p>
          <a:p>
            <a:pPr algn="l">
              <a:lnSpc>
                <a:spcPct val="114000"/>
              </a:lnSpc>
              <a:spcBef>
                <a:spcPts val="0"/>
              </a:spcBef>
              <a:spcAft>
                <a:spcPts val="900"/>
              </a:spcAft>
            </a:pPr>
            <a:r>
              <a:rPr sz="1350" b="0" i="0">
                <a:solidFill>
                  <a:srgbClr val="3D3D3A"/>
                </a:solidFill>
                <a:latin typeface="Arial"/>
              </a:rPr>
              <a:t>✓   It keeps a searchable audit trail of what was done.</a:t>
            </a:r>
          </a:p>
          <a:p>
            <a:pPr algn="l">
              <a:lnSpc>
                <a:spcPct val="114000"/>
              </a:lnSpc>
              <a:spcBef>
                <a:spcPts val="0"/>
              </a:spcBef>
              <a:spcAft>
                <a:spcPts val="900"/>
              </a:spcAft>
            </a:pPr>
            <a:r>
              <a:rPr sz="1350" b="0" i="0">
                <a:solidFill>
                  <a:srgbClr val="3D3D3A"/>
                </a:solidFill>
                <a:latin typeface="Arial"/>
              </a:rPr>
              <a:t>✓   It alerts you the moment spending looks unusual.</a:t>
            </a:r>
          </a:p>
        </p:txBody>
      </p:sp>
      <p:sp>
        <p:nvSpPr>
          <p:cNvPr id="10" name="TextBox 9"/>
          <p:cNvSpPr txBox="1"/>
          <p:nvPr/>
        </p:nvSpPr>
        <p:spPr>
          <a:xfrm>
            <a:off x="822960" y="5532120"/>
            <a:ext cx="10515600" cy="640080"/>
          </a:xfrm>
          <a:prstGeom prst="rect">
            <a:avLst/>
          </a:prstGeom>
          <a:noFill/>
        </p:spPr>
        <p:txBody>
          <a:bodyPr wrap="square" anchor="t" lIns="0" rIns="0" tIns="0" bIns="0">
            <a:spAutoFit/>
          </a:bodyPr>
          <a:lstStyle/>
          <a:p>
            <a:pPr algn="ctr">
              <a:spcBef>
                <a:spcPts val="0"/>
              </a:spcBef>
              <a:spcAft>
                <a:spcPts val="0"/>
              </a:spcAft>
            </a:pPr>
            <a:r>
              <a:rPr sz="1600" b="0" i="1">
                <a:solidFill>
                  <a:srgbClr val="141413"/>
                </a:solidFill>
                <a:latin typeface="Georgia"/>
              </a:rPr>
              <a:t>It is one self-hosted gateway on AWS, running on your credential, under your policy, in full view.</a:t>
            </a:r>
          </a:p>
        </p:txBody>
      </p:sp>
      <p:sp>
        <p:nvSpPr>
          <p:cNvPr id="11" name="Rectangle 10"/>
          <p:cNvSpPr/>
          <p:nvPr/>
        </p:nvSpPr>
        <p:spPr>
          <a:xfrm>
            <a:off x="822960" y="6419088"/>
            <a:ext cx="10543032" cy="12700"/>
          </a:xfrm>
          <a:prstGeom prst="rect">
            <a:avLst/>
          </a:prstGeom>
          <a:solidFill>
            <a:srgbClr val="D9D5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6473952"/>
            <a:ext cx="8229600" cy="274320"/>
          </a:xfrm>
          <a:prstGeom prst="rect">
            <a:avLst/>
          </a:prstGeom>
          <a:noFill/>
        </p:spPr>
        <p:txBody>
          <a:bodyPr wrap="square" anchor="t" lIns="0" rIns="0" tIns="0" bIns="0">
            <a:spAutoFit/>
          </a:bodyPr>
          <a:lstStyle/>
          <a:p>
            <a:pPr algn="l">
              <a:spcBef>
                <a:spcPts val="0"/>
              </a:spcBef>
              <a:spcAft>
                <a:spcPts val="0"/>
              </a:spcAft>
            </a:pPr>
            <a:r>
              <a:rPr sz="900" b="0" i="0">
                <a:solidFill>
                  <a:srgbClr val="737069"/>
                </a:solidFill>
                <a:latin typeface="Arial"/>
              </a:rPr>
              <a:t>Claude Apps Gateway  ·  Governance</a:t>
            </a:r>
          </a:p>
        </p:txBody>
      </p:sp>
      <p:sp>
        <p:nvSpPr>
          <p:cNvPr id="13" name="TextBox 12"/>
          <p:cNvSpPr txBox="1"/>
          <p:nvPr/>
        </p:nvSpPr>
        <p:spPr>
          <a:xfrm>
            <a:off x="10424160" y="6473952"/>
            <a:ext cx="941832" cy="274320"/>
          </a:xfrm>
          <a:prstGeom prst="rect">
            <a:avLst/>
          </a:prstGeom>
          <a:noFill/>
        </p:spPr>
        <p:txBody>
          <a:bodyPr wrap="square" anchor="t" lIns="0" rIns="0" tIns="0" bIns="0">
            <a:spAutoFit/>
          </a:bodyPr>
          <a:lstStyle/>
          <a:p>
            <a:pPr algn="r">
              <a:spcBef>
                <a:spcPts val="0"/>
              </a:spcBef>
              <a:spcAft>
                <a:spcPts val="0"/>
              </a:spcAft>
            </a:pPr>
            <a:r>
              <a:rPr sz="900" b="0" i="0">
                <a:solidFill>
                  <a:srgbClr val="737069"/>
                </a:solidFill>
                <a:latin typeface="Arial"/>
              </a:rPr>
              <a:t>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